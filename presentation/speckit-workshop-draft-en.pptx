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a question to the audience: who has ever asked an AI to write code straight from a prompt?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question to the audience -- give them a moment to think before continuing.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Can briefly show examples/prompt-only/naive_monitor.ino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sentence the audience should remember from the whole workshop. Pause here for a 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Focus on the top half of the diagram for now. Every 'Fix' is a product decision made after code already exists that contradicts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focus on the bottom half. The difference isn't 'more bureaucracy' -- it's moving decisions to where they're cheap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all seven stages briefly here; the deep dive on each one comes later in the Heltec walkthrough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#1-2 from the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real output from this repo's own initialization.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dive into command syntax -- the goal is the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'Spec Kit is not the coding agent. Claude Code or Codex do the work. The IDE is the human workspace.'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#6-7.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 framework survey -- that's not the point of this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Visual: examples/prompt-only/naive_monitor.ino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programming problem. It's a product decision that had to be made *before* writing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#10-11 (plan.md, tasks.md) if you want to also show the files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important slide -- don't rush through it. This is not a made-up example for the talk -- it really happened while building this project. Can show live: git show b91cd94 -- specs/001-heltec-monitor/spec.md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strongest demonstration of Spec Kit's value in the entire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on this slide depends on the physical hardware test, which hasn't happened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stage already exists as a tag in the repository -- the demo doesn't depend on a live AI run that could fail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 presentation/slide-links.md for the full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Arial"/>
              </a:rPr>
              <a:t>From Prompt to Product</a:t>
            </a:r>
          </a:p>
          <a:p>
            <a:pPr algn="ctr"/>
            <a:r>
              <a:rPr sz="2800">
                <a:solidFill>
                  <a:srgbClr val="A5B4FC"/>
                </a:solidFill>
                <a:latin typeface="Arial"/>
              </a:rPr>
              <a:t>Spec-Driven Development with GitHub Spec 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9319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i="1">
                <a:solidFill>
                  <a:srgbClr val="CBD5E1"/>
                </a:solidFill>
                <a:latin typeface="Arial"/>
              </a:rPr>
              <a:t>A real example on the Heltec WiFi Kit V3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The Vague Prompt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554480"/>
            <a:ext cx="10362895" cy="164592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71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334155"/>
                </a:solidFill>
                <a:latin typeface="Courier New"/>
              </a:rPr>
              <a:t>Build an application for a Heltec WiFi Kit V3 that reads a sensor,
shows the value on the display, and shows a warning when the value is too high.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99971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B91C1C"/>
                </a:solidFill>
                <a:latin typeface="Arial"/>
              </a:rPr>
              <a:t>❓ Is this enough information to build the correct product?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Everything the Prompt Never Answered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Which sensor?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How often is it sampled?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What exactly is "too high"?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What happens exactly at the threshold?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When does the warning clear?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What happens if the sensor fails?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What does the display show during an error?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What gets logged to Serial?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The problem is usually not that the AI cannot write the code.</a:t>
            </a:r>
          </a:p>
          <a:p>
            <a:pPr algn="ctr"/>
            <a:r>
              <a:rPr sz="3000" b="1">
                <a:solidFill>
                  <a:srgbClr val="FCD34D"/>
                </a:solidFill>
                <a:latin typeface="Arial"/>
              </a:rPr>
              <a:t>The problem is that the product behavior was not sufficiently defined.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From Prompt to an Infinite Loop</a:t>
            </a:r>
          </a:p>
        </p:txBody>
      </p:sp>
      <p:pic>
        <p:nvPicPr>
          <p:cNvPr id="3" name="Picture 2" descr="diagram-prompt-vs-spec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47364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The Alternative: A Spec-Driven Process</a:t>
            </a:r>
          </a:p>
        </p:txBody>
      </p:sp>
      <p:pic>
        <p:nvPicPr>
          <p:cNvPr id="3" name="Picture 2" descr="diagram-prompt-vs-spec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47364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What Each Stage Catches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i="1">
                <a:solidFill>
                  <a:srgbClr val="334155"/>
                </a:solidFill>
                <a:latin typeface="Arial"/>
              </a:rPr>
              <a:t>Every stage exists to catch one specific kind of mistake -- before it becomes code: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2563EB"/>
                </a:solidFill>
                <a:latin typeface="Courier New"/>
              </a:rPr>
              <a:t>constitution </a:t>
            </a:r>
            <a:r>
              <a:rPr sz="2000" i="0">
                <a:solidFill>
                  <a:srgbClr val="334155"/>
                </a:solidFill>
                <a:latin typeface="Arial"/>
              </a:rPr>
              <a:t>  →  A rule gets silently broken because nobody wrote it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21992"/>
            <a:ext cx="10728655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2563EB"/>
                </a:solidFill>
                <a:latin typeface="Courier New"/>
              </a:rPr>
              <a:t>specify      </a:t>
            </a:r>
            <a:r>
              <a:rPr sz="2000" i="0">
                <a:solidFill>
                  <a:srgbClr val="334155"/>
                </a:solidFill>
                <a:latin typeface="Arial"/>
              </a:rPr>
              <a:t>  →  We never agreed what this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43784"/>
            <a:ext cx="10728655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2563EB"/>
                </a:solidFill>
                <a:latin typeface="Courier New"/>
              </a:rPr>
              <a:t>clarify      </a:t>
            </a:r>
            <a:r>
              <a:rPr sz="2000" i="0">
                <a:solidFill>
                  <a:srgbClr val="334155"/>
                </a:solidFill>
                <a:latin typeface="Arial"/>
              </a:rPr>
              <a:t>  →  We agreed on the happy path, not the edges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65576"/>
            <a:ext cx="10728655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2563EB"/>
                </a:solidFill>
                <a:latin typeface="Courier New"/>
              </a:rPr>
              <a:t>plan         </a:t>
            </a:r>
            <a:r>
              <a:rPr sz="2000" i="0">
                <a:solidFill>
                  <a:srgbClr val="334155"/>
                </a:solidFill>
                <a:latin typeface="Arial"/>
              </a:rPr>
              <a:t>  →  We agreed on what, not how -- and how has real constraints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87368"/>
            <a:ext cx="10728655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2563EB"/>
                </a:solidFill>
                <a:latin typeface="Courier New"/>
              </a:rPr>
              <a:t>tasks        </a:t>
            </a:r>
            <a:r>
              <a:rPr sz="2000" i="0">
                <a:solidFill>
                  <a:srgbClr val="334155"/>
                </a:solidFill>
                <a:latin typeface="Arial"/>
              </a:rPr>
              <a:t>  →  We know the plan, not the order or the dependencies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09160"/>
            <a:ext cx="10728655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2563EB"/>
                </a:solidFill>
                <a:latin typeface="Courier New"/>
              </a:rPr>
              <a:t>analyze      </a:t>
            </a:r>
            <a:r>
              <a:rPr sz="2000" i="0">
                <a:solidFill>
                  <a:srgbClr val="334155"/>
                </a:solidFill>
                <a:latin typeface="Arial"/>
              </a:rPr>
              <a:t>  →  Two of our own documents quietly contradict each other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30952"/>
            <a:ext cx="10728655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2563EB"/>
                </a:solidFill>
                <a:latin typeface="Courier New"/>
              </a:rPr>
              <a:t>implement    </a:t>
            </a:r>
            <a:r>
              <a:rPr sz="2000" i="1">
                <a:solidFill>
                  <a:srgbClr val="334155"/>
                </a:solidFill>
                <a:latin typeface="Arial"/>
              </a:rPr>
              <a:t>  →  (this is the only step prompt-only starts from)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What Is GitHub Spec 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 i="0">
                <a:solidFill>
                  <a:srgbClr val="334155"/>
                </a:solidFill>
                <a:latin typeface="Arial"/>
              </a:rPr>
              <a:t>Spec Kit = a CLI tool (specify) + a set of Skills/Commands for a coding agent</a:t>
            </a:r>
          </a:p>
          <a:p>
            <a:pPr algn="l">
              <a:spcAft>
                <a:spcPts val="1200"/>
              </a:spcAft>
            </a:pPr>
            <a:r>
              <a:rPr sz="2400" b="0" i="0">
                <a:solidFill>
                  <a:srgbClr val="334155"/>
                </a:solidFill>
                <a:latin typeface="Arial"/>
              </a:rPr>
              <a:t>It doesn't write code itself -- it structures the *process* that leads to writing the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926080"/>
            <a:ext cx="10728655" cy="256032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i="1" b="1">
                <a:solidFill>
                  <a:srgbClr val="64748B"/>
                </a:solidFill>
              </a:rPr>
              <a:t>📷 Spec Kit website + GitHub repo</a:t>
            </a:r>
          </a:p>
          <a:p>
            <a:pPr algn="ctr"/>
            <a:r>
              <a:rPr sz="1300" i="1">
                <a:solidFill>
                  <a:srgbClr val="64748B"/>
                </a:solidFill>
              </a:rPr>
              <a:t>(real screenshot missing -- see screenshot-checklist.md)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Installation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9713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>
                <a:solidFill>
                  <a:srgbClr val="334155"/>
                </a:solidFill>
                <a:latin typeface="Courier New"/>
              </a:rPr>
              <a:t>uv tool install specify-cli
specify init --here --integration claude</a:t>
            </a:r>
          </a:p>
        </p:txBody>
      </p:sp>
      <p:pic>
        <p:nvPicPr>
          <p:cNvPr id="4" name="Picture 3" descr="terminal-specify-i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68880"/>
            <a:ext cx="10332720" cy="40426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The Workflow in Seven Stages</a:t>
            </a:r>
          </a:p>
        </p:txBody>
      </p:sp>
      <p:pic>
        <p:nvPicPr>
          <p:cNvPr id="3" name="Picture 2" descr="diagram-speckit-workflow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1094415" cy="23245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The Output: Real Files in the Repository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1" i="0">
                <a:solidFill>
                  <a:srgbClr val="2563EB"/>
                </a:solidFill>
                <a:latin typeface="Arial"/>
              </a:rPr>
              <a:t>specs/001-heltec-monitor/{spec,plan,tasks}.md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Not a chat conversation that disappears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This is what lets you switch agents, come back a month later, and see exactly why each decision was made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Who Does What</a:t>
            </a:r>
          </a:p>
        </p:txBody>
      </p:sp>
      <p:pic>
        <p:nvPicPr>
          <p:cNvPr id="3" name="Picture 2" descr="diagram-tool-relationship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34887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Same Repo, Two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2563EB"/>
                </a:solidFill>
                <a:latin typeface="Arial"/>
              </a:rPr>
              <a:t>Claude Code  →  /speckit-specify   (.claude/skills/)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D97706"/>
                </a:solidFill>
                <a:latin typeface="Arial"/>
              </a:rPr>
              <a:t>Codex  →  $speckit-specify   (.agents/skills/)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This isn't theoretical -- this repo has both integrations installed side by 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657600"/>
            <a:ext cx="10728655" cy="219456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i="1" b="1">
                <a:solidFill>
                  <a:srgbClr val="64748B"/>
                </a:solidFill>
              </a:rPr>
              <a:t>📷 Claude Code + Codex session (same repo)</a:t>
            </a:r>
          </a:p>
          <a:p>
            <a:pPr algn="ctr"/>
            <a:r>
              <a:rPr sz="1300" i="1">
                <a:solidFill>
                  <a:srgbClr val="64748B"/>
                </a:solidFill>
              </a:rPr>
              <a:t>(real screenshot missing -- see screenshot-checklist.md)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VS Code, Briefly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 i="0">
                <a:solidFill>
                  <a:srgbClr val="334155"/>
                </a:solidFill>
                <a:latin typeface="Arial"/>
              </a:rPr>
              <a:t>Extensions: PlatformIO IDE, C/C++ -- each with a specific reason, not a long list</a:t>
            </a:r>
          </a:p>
          <a:p>
            <a:pPr algn="l">
              <a:spcAft>
                <a:spcPts val="1200"/>
              </a:spcAft>
            </a:pPr>
            <a:r>
              <a:rPr sz="2400" b="0" i="0">
                <a:solidFill>
                  <a:srgbClr val="334155"/>
                </a:solidFill>
                <a:latin typeface="Arial"/>
              </a:rPr>
              <a:t>JetBrains/CLion: the same files, a different terminal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Direct Prompting vs. Spec 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2563EB"/>
                </a:solidFill>
                <a:latin typeface="Courier New"/>
              </a:rPr>
              <a:t>Requirements</a:t>
            </a:r>
            <a:r>
              <a:rPr sz="2000">
                <a:solidFill>
                  <a:srgbClr val="334155"/>
                </a:solidFill>
                <a:latin typeface="Arial"/>
              </a:rPr>
              <a:t>   —   Live in chat history   →   Live as repository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3172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2563EB"/>
                </a:solidFill>
                <a:latin typeface="Courier New"/>
              </a:rPr>
              <a:t>Clarifications</a:t>
            </a:r>
            <a:r>
              <a:rPr sz="2000">
                <a:solidFill>
                  <a:srgbClr val="334155"/>
                </a:solidFill>
                <a:latin typeface="Arial"/>
              </a:rPr>
              <a:t>   —   Agent assumes on its own   →   Explicit clarification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2563EB"/>
                </a:solidFill>
                <a:latin typeface="Courier New"/>
              </a:rPr>
              <a:t>Traceability</a:t>
            </a:r>
            <a:r>
              <a:rPr sz="2000">
                <a:solidFill>
                  <a:srgbClr val="334155"/>
                </a:solidFill>
                <a:latin typeface="Arial"/>
              </a:rPr>
              <a:t>   —   Low   →   High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8620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2563EB"/>
                </a:solidFill>
                <a:latin typeface="Courier New"/>
              </a:rPr>
              <a:t>Repeatability</a:t>
            </a:r>
            <a:r>
              <a:rPr sz="2000">
                <a:solidFill>
                  <a:srgbClr val="334155"/>
                </a:solidFill>
                <a:latin typeface="Arial"/>
              </a:rPr>
              <a:t>   —   Low-to-medium   →   High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And Why Not Just "Another Framework"?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OpenSpec -- similar territory, a different template/command set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BMAD -- more roles and handoffs, more overhead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Spec Kit sits between free-form prompting and heavy multi-agent processes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The Hardware,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Heltec WiFi Kit V3 (ESP32-S3), built-in OLED, external BME280</a:t>
            </a:r>
          </a:p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B91C1C"/>
                </a:solidFill>
                <a:latin typeface="Arial"/>
              </a:rPr>
              <a:t>No built-in environmental sensor on the board -- that's already a product decision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Surprising technical detail: the display's I2C pins are 17/18, not the ESP32 default (21/22)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Stage A: Prompt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1" i="0">
                <a:solidFill>
                  <a:srgbClr val="2563EB"/>
                </a:solidFill>
                <a:latin typeface="Arial"/>
              </a:rPr>
              <a:t>The point: implicit assumption vs. explicit decision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Hardware wiring (I2C, Vext) is correct in both versions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What's missing: which sensor, the exact threshold, whether hysteresis is needed</a:t>
            </a:r>
          </a:p>
          <a:p>
            <a:pPr algn="l">
              <a:spcAft>
                <a:spcPts val="1200"/>
              </a:spcAft>
            </a:pPr>
            <a:r>
              <a:rPr sz="2000" b="0" i="1">
                <a:solidFill>
                  <a:srgbClr val="334155"/>
                </a:solidFill>
                <a:latin typeface="Arial"/>
              </a:rPr>
              <a:t>Key example: no hysteresis -- not a "bug," the result of a requirement that was never stated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Stage B-C: Specify + Clarify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The 4 questions actually asked: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Sampling rate • exact threshold bounds • failure debounce • error display content</a:t>
            </a:r>
          </a:p>
        </p:txBody>
      </p:sp>
      <p:pic>
        <p:nvPicPr>
          <p:cNvPr id="4" name="Picture 3" descr="code-spec-clarif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43200"/>
            <a:ext cx="10515600" cy="303096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Hysteresis: The Clearest Example</a:t>
            </a:r>
          </a:p>
        </p:txBody>
      </p:sp>
      <p:pic>
        <p:nvPicPr>
          <p:cNvPr id="3" name="Picture 2" descr="diagram-hysteresis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94415" cy="526984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Stage D-E: Plan + Tasks</a:t>
            </a:r>
          </a:p>
        </p:txBody>
      </p:sp>
      <p:pic>
        <p:nvPicPr>
          <p:cNvPr id="3" name="Picture 2" descr="diagram-architecture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94415" cy="394468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⭐ Stage F: Analyze Finds a Real Contradiction</a:t>
            </a:r>
          </a:p>
        </p:txBody>
      </p:sp>
      <p:pic>
        <p:nvPicPr>
          <p:cNvPr id="3" name="Picture 2" descr="diagram-analyze-catch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051560"/>
            <a:ext cx="7017283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/speckit-analyze didn't find a syntax problem or a code bug.</a:t>
            </a:r>
          </a:p>
          <a:p>
            <a:pPr algn="ctr"/>
            <a:r>
              <a:rPr sz="2600" b="1">
                <a:solidFill>
                  <a:srgbClr val="FCD34D"/>
                </a:solidFill>
                <a:latin typeface="Arial"/>
              </a:rPr>
              <a:t>It found that our own requirements contradicted each other -- before a single line of code was written.</a:t>
            </a:r>
          </a:p>
        </p:txBody>
      </p:sp>
      <p:pic>
        <p:nvPicPr>
          <p:cNvPr id="3" name="Picture 2" descr="code-analyze-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4114800"/>
            <a:ext cx="9418320" cy="252632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Stage G: Implement</a:t>
            </a:r>
          </a:p>
        </p:txBody>
      </p:sp>
      <p:pic>
        <p:nvPicPr>
          <p:cNvPr id="3" name="Picture 2" descr="code-monitor-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9875520" cy="3636515"/>
          </a:xfrm>
          <a:prstGeom prst="rect">
            <a:avLst/>
          </a:prstGeom>
        </p:spPr>
      </p:pic>
      <p:pic>
        <p:nvPicPr>
          <p:cNvPr id="4" name="Picture 3" descr="terminal-pio-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709160"/>
            <a:ext cx="4206240" cy="15563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0" y="4892040"/>
            <a:ext cx="60350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15803D"/>
                </a:solidFill>
                <a:latin typeface="Arial"/>
              </a:rPr>
              <a:t>monitor_logic is fully tested with zero hardware</a:t>
            </a:r>
          </a:p>
          <a:p>
            <a:pPr algn="l"/>
            <a:r>
              <a:rPr sz="1800">
                <a:solidFill>
                  <a:srgbClr val="15803D"/>
                </a:solidFill>
                <a:latin typeface="Courier New"/>
              </a:rPr>
              <a:t>(pio test -e native, 11/11 passed)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457200" y="5989320"/>
            <a:ext cx="11277295" cy="640080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Normal temperature → OK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Warming above 30°C → WARNING</a:t>
            </a:r>
          </a:p>
          <a:p>
            <a:pPr algn="l">
              <a:spcAft>
                <a:spcPts val="1200"/>
              </a:spcAft>
            </a:pPr>
            <a:r>
              <a:rPr sz="2000" b="1" i="0">
                <a:solidFill>
                  <a:srgbClr val="B91C1C"/>
                </a:solidFill>
                <a:latin typeface="Arial"/>
              </a:rPr>
              <a:t>Partial cooling (28-30°C) → stays WARNING (the single most important point)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Cooling below 28°C → back to OK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If there's time: disconnect the sensor → SENSOR_ERROR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206240"/>
            <a:ext cx="10728655" cy="155448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i="1" b="1">
                <a:solidFill>
                  <a:srgbClr val="64748B"/>
                </a:solidFill>
              </a:rPr>
              <a:t>📷 Serial output + OLED photo</a:t>
            </a:r>
          </a:p>
          <a:p>
            <a:pPr algn="ctr"/>
            <a:r>
              <a:rPr sz="1300" i="1">
                <a:solidFill>
                  <a:srgbClr val="64748B"/>
                </a:solidFill>
              </a:rPr>
              <a:t>(real screenshot missing -- see screenshot-checklist.md)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807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1">
                <a:solidFill>
                  <a:srgbClr val="D97706"/>
                </a:solidFill>
                <a:latin typeface="Arial"/>
              </a:rPr>
              <a:t>⏳ Pending physical hardware verification (checkpoint 09-hardware-verified)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457200" y="5989320"/>
            <a:ext cx="11277295" cy="640080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Git Checkpoints</a:t>
            </a:r>
          </a:p>
        </p:txBody>
      </p:sp>
      <p:pic>
        <p:nvPicPr>
          <p:cNvPr id="3" name="Picture 2" descr="terminal-git-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10515600" cy="34438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1">
                <a:solidFill>
                  <a:srgbClr val="D97706"/>
                </a:solidFill>
                <a:latin typeface="Arial"/>
              </a:rPr>
              <a:t>⏳ Tag 09-hardware-verified does not exist yet -- pending physical test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Five Things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•  AI coding speed does not remove the need for clear requirements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•  Spec Kit gives a repeatable path from idea to implementation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•  Claude Code and Codex are the agents; Spec Kit is the process and structure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•  The spec, plan, and tasks live in the repository -- they don't disappear into a chat</a:t>
            </a:r>
          </a:p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FCD34D"/>
                </a:solidFill>
                <a:latin typeface="Arial"/>
              </a:rPr>
              <a:t>•  The best proof: not that it generates code, but that it forces answers to important questions before the wrong code gets written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Links and 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Spec Kit: github.com/github/spec-kit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Spec Kit docs: github.github.io/spec-kit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Claude Code docs: docs.claude.com/en/docs/claude-code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Codex docs: developers.openai.com/codex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PlatformIO: platformio.org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Heltec WiFi Kit 32 (V3): heltec.org/project/wifi-kit32-v3</a:t>
            </a:r>
          </a:p>
          <a:p>
            <a:pPr algn="l">
              <a:spcAft>
                <a:spcPts val="1200"/>
              </a:spcAft>
            </a:pPr>
            <a:r>
              <a:rPr sz="2000" b="0" i="1">
                <a:solidFill>
                  <a:srgbClr val="334155"/>
                </a:solidFill>
                <a:latin typeface="Arial"/>
              </a:rPr>
              <a:t>Companion repository: (to be filled in after publishing)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