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לפתוח בהצבעה: מי כבר ביקש פעם מסוכן AI לקוד 'סתם לבנות X' ממשפט אחד? כמעט כולם. ההרצאה הזו עוסקת במה שקורה אחר כך -- ובדוגמה אמיתית וקונקרטית ממערכות משובצות (מוניטור טמפרטורה על לוח Heltec מבוסס ESP32) שנעקוב אחריה מפרומפט מעורפל ועד קושחה בדוקה, עובדת, שאומתה פיזית. לא נדרש ידע קודם ב-Spec Kit, במערכות משובצות, ואפילו לא בסוכני AI.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לקרוא את הפרומפט בקול, לאט. הוא נשמע שלם -- יש בו חיישן, מסך, אזהרה. זו בדיוק המלכודת: הוא נשמע כמו מפרט אבל הוא לא. לתת לקהל רגע אמיתי של שקט לפני שממשיכים לשקף 3, שם נפרק את כל מה שהמשפט הזה השאיר בשקט לא מוחלט.</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כל שורה כאן היא החלטה אמיתית, ופרומפט לא מפורט לא מבטל את ההחלטה -- הוא רק מעביר אותה אל תוך הראש של המודל, איפה שאי אפשר לראות אותה, לבדוק אותה או להסכים איתה. אפשר להראות כאן את examples/prompt-only/naive_monitor.ino כדי להוכיח שאלה לא שאלות תיאורטיות: להצביע אילו שורות בקוד שנוצר בפועל ענו בשקט על כל אחת מהשאלות למעלה.</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זה המשפט שהקהל צריך לזכור מהסדנה כולה -- לעצור רגע אחרי שקוראים אותו בקול. מודלים מודרניים כבר טובים מספיק בכתיבת קוד; זה כבר לא צוואר הבקבוק. צוואר הבקבוק זז מעלה בזרם, לשלב ההחלטה מה בדיוק הקוד אמור לעשות. Spec Kit, שנציג בעוד רגע, הוא כלי שהופך את שלב קבלת ההחלטות הזה למפורש ומובנה במקום מרומז ומדולג.</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להתמקד רק בחצי העליון של הדיאגרמה כרגע (נחזור לחצי התחתון בשקף הבא). זו הלולאה הרגילה כשמדלגים על מפרט: פרומפט -&gt; קוד -&gt; שמים לב שמשהו לא בסדר -- שולחים פרומפט המשך לתיקון -&gt; התיקון חושף או שובר משהו אחר -&gt; חוזר חלילה. כל תיבת 'תיקון' היא החלטת מוצר שהתקבלה *אחרי* שכבר היה קוד שסותר אותה -- וזה הזמן היקר ביותר האפשרי לקבל את ההחלטה הזו, כי כבר יש קוד ואולי משתמש שתלוי בהתנהגות הלא נכונה.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עכשיו להצביע על החצי התחתון של אותה דיאגרמה. ההבדל הוא לא 'יותר ניירת' -- אותן החלטות בדיוק (איזה חיישן, מה הסף, מה קורה בתקלה) מתקבלות פעם אחת, במכוון, בשלב הבהרה קצר, לפני שיש קוד בכלל -- במקום אחת אחת, בטעות, אחרי שכבר יש קוד שצריך לפרק. אותו מספר החלטות בסך הכול; מה שמשתנה הוא רק *מתי* הן מתקבלות, והתזמון הזה הוא כל הצעת הערך של הסדנה הזו.</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לעבור בקצרה על כל שבעת השלבים כאן; ההעמקה בכל אחד מהם מגיעה בהמשך, בקטע ה-Heltec.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זהו שקף העוגן של כל ההרצאה -- לא למהר. נקודות מפתח לומר בקול: (1) זה מ-GitHub, זה חינמי וקוד פתוח, זו לא הצעת מכירה למוצר בתשלום; (2) זה לא מחליף את Claude Code או Codex -- אלה הסוכנים שבפועל כותבים קוד, Spec Kit הוא שכבת התהליך המובנה מעליהם (יש לזה דיאגרמה משלה עוד שני שקפים קדימה); (3) הבעיה המניעה היא בדיוק מה ששקפים 2-4 הראו זה עתה: ייצור קוד מהיר חשף כמה מהעבודה האמיתית היא בעצם החלטה מה לבנות. אם יש זמן, כדאי להראות בקצרה את ה-GitHub repo האמיתי של Spec Kit ואת ה-README שלו (screenshots #1-2 בצ'קליסט) כדי שהקהל יראה שזה פרויקט אמיתי ופעיל, לא סקריפט חד-פעמי.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השורה הראשונה מתקינה את כלי ה-CLI specify עצמו (הגדרה חד-פעמית, דרך כלי ה-uv של Python). השורה השנייה מריצה אותו בתוך תיקיית פרויקט קיימת ואומרת לה לאיזה סוכן להתחבר -- כאן, Claude Code. זה יוצר תיקיית .specify/ (תבניות, סקריפטים, חוקת הפרויקט) ותיקיית .claude/skills/ עם פקודות ה-/speckit-... . הפלט בטרמינל למטה הוא הפלט האמיתי, ללא עריכה, מהאתחול של הריפו הזה עצמו -- שום דבר כאן לא מבוים או מדומה.</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לא לצלול עדיין לתחביר הפקודות -- המטרה כאן היא רק המודל המנטלי של הצינור: constitution (כללי פרויקט כלל-ארגוניים, נכתבים פעם אחת) -&gt; specify (מה בונים) -&gt; clarify (פותרים את החלקים המעורפלים) -&gt; plan (הגישה הטכנית) -&gt; tasks (פירוק התוכנית לצעדים מסודרים וניתנים לבדיקה) -&gt; analyze (בדיקה אוטומטית של spec/plan/tasks לסתירות) -&gt; implement (הסוכן כותב את הקוד). כל שלב מייצר קובץ אמיתי ברפוזיטורי, שזה הנושא של השקף הבא. כבר הצגנו בקצרה *למה* כל שלב קיים בשקף 7 -- זה השקף שמראה את הסדר שבו הם רצים.</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זה רגע טוב לפתוח בפועל את specs/001-heltec-monitor/spec.md בעורך, ולו רק לגלול בו -- לראות קובץ Markdown אמיתי וקריא (לא קוד, לא JSON) בדרך כלל מפשיט את כל הרעיון לקהל שאין לו רקע קודם.</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חשוב לומר את זה במפורש, זו נקודת הבלבול הנפוצה ביותר למתחילים: Spec Kit הוא לא סוכן קידוד והוא לא כותב קוד. Claude Code או Codex הם הסוכנים שבפועל קוראים את קבצי spec/plan/tasks וכותבים את הקושחה. ה-IDE (VS Code, CLion/JetBrains) הוא רק סביבת העבודה של האדם לקריאה ועריכה של קבצים לצד הסוכן. כלומר המבנה הוא: IDE (אדם) + סוכן קידוד (מבצע את העבודה) + Spec Kit (התהליך המובנה שהסוכן פועל לפיו) -- שלוש שכבות נפרדות, כל אחת ניתנת להחלפה, לא מוצר אחד.</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כאן נכנסים screenshots #6-7 מהצ'קליסט. אם יש טרמינל חי זמין, שווה להריץ בפועל /speckit-specify בסוכן אחד ו-$speckit-specify בשני נגד הריפו הזה, כדי להראות שזה אותו skill בבסיס, רק תחביר הפעלה שונה לכל סוכן.</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לשמור על זה קצר -- הנקודה היא שהעורך הוא הבחירה הכי פחות חשובה בכל התהליך הזה. לא כדאי להיגרר לוויכוח על extensions -- שניים זו כל הרשימה.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traceability פירושו: אפשר להצביע על הרגע והסיבה המדויקים שדרישה הוחלטה? repeatability פירושו: אם נותנים את אותו המפרט לסוכן אחר, או מריצים את התהליך שוב, האם מגיעים לתוצאה דומה? שניהם נמוכים באופן טבעי בפרומפט אד-הוק בודד כי שום דבר לא נכתב, וגבוהים יותר באופן טבעי עם Spec Kit כי הדרישות הן קבצים, לא זיכרון.</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לא סקירת frameworks -- לא להשקיע כאן יותר מדקה, זו לא המטרה של הסדנה. המסר היחיד ששווה להעביר: זה ספקטרום (בלי תהליך -&gt; Spec Kit -&gt; frameworks כבדים יותר), וכמות התהליך הנכונה תלויה בגודל הפרויקט והצוות.</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השקף הזה קיים כדי לבסס אמינות חומרה אמיתית לפני שמשווים בין שתי גישות הבנייה -- מכאן והלאה הכול מבוסס על לוח פיזי אמיתי, לא דוגמת צעצוע.</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ויזואל: examples/prompt-only/naive_monitor.ino. אם הוא פתוח, כדאי לגלול לבדיקת הסף ולהצביע שיש בדיוק השוואה אחת (value &gt; 30) בלי תנאי שני לכיבוי האזהרה -- ה'ענף else' החסר הזה הוא כל סיפור ההיסטרזיס, שמגיע בפירוט בשקף 20.</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זה התמליל האמיתי של clarify מהפרויקט הזה, לא הדמיה. שווה להצביע שאלה בדיוק סוג השאלות שמבקר אנושי זהיר היה שואל -- הסוכן פשוט שואל אותן מוקדם יותר, לפני כתיבת קוד, ומתעד את התשובות כדי שלעולם לא יאבדו.</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לעבור על הדיאגרמה משמאל לימין: הטמפרטורה חוצה את ה-30°C, ה-WARNING נדלק. בלי רצועת סבילות, ברגע שהטמפרטורה יורדת חזרה ל-29.9°C המסך היה קופץ מיד חזרה ל-OK, ואז חזרה ל-WARNING בתנודה הקטנה הבאה -- הבהוב על כל חצייה של מספר בודד. הרצועה (כאן, 28-30°C) אומרת שברגע שה-WARNING דלוק, הוא *נשאר* דלוק בכל מקום בתוך הרצועה, ונכבה רק כשהטמפרטורה יורדת מתחת לקצה התחתון (28°C). זו לא בעיית תכנות לניפוי -- זו החלטת מוצר (כמה סבילות מקובלת) שהיתה חייבת להתקבל לפני שנכתבה שורה אחת של מכונת המצבים, ובדיוק זה סוג ההחלטה ששלב ה-clarify קיים כדי לחשוף.</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 הופך את הדרישות שכבר הובהרו לגישה טכנית קונקרטית: איזה לוח, אילו ספריות, ובאופן קריטי, ארכיטקטורה שמפוצלת לשלושה חלקים נפרדים -- מתאם חיישן, לוגיקת החלטה טהורה ללא שום תלות בחומרה, ורכיב דיווח למסך OLED ול-Serial. tasks לאחר מכן מפרק את התוכנית לצעדים קטנים, מסודרים, וניתנים לבדיקה, שסוכן (או אדם) יכול לבצע אחד אחד. הפיצול הארכיטקטוני שמוצג כאן הוא מה שמאפשר את הבדיקה האוטומטית בשקף הבא: מכיוון שלוגיקת ההחלטה לא נוגעת בחומרה בכלל, אפשר לבדוק אותה על מחשב נייד בלי לוח Heltec מחובר בכלל. אם רוצים להראות גם את הקבצים עצמם, screenshots #10-11 בצ'קליסט הם plan.md ו-tasks.md עצמם.</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השקף החשוב ביותר בכל ההרצאה -- לא להעביר במהירות. לעבור על כל אחת מחמש התיבות: (1) בשלב clarify, הוחלט שהאזהרה צריכה להישאר דלוקה בתוך רצועת ההיסטרזיס; (2) אבל קריטריון הצלחה נפרד (SC-004), שנכתב קודם, עדיין תיאר את ההתנהגות הפשוטה יותר של דלוק/כבוי -- אף אחד לא שם לב שהשניים כבר לא תואמים; (3) /speckit-analyze, שבודק אוטומטית spec/plan/tasks אחד מול השני, תפס את הסתירה הזו; (4) המפרט תוקן במקום; (5) המימוש התחיל רק אחרי שהמסמכים הסכימו ביניהם. זו לא דוגמה מומצאת לצורך ההרצאה -- זה קרה ממש בבניית הפרויקט הזה, והתיעוד המלא שמור ב-specs/001-heltec-monitor/analysis-report.md. אם יש טרמינל, אפשר להראות live: git show b91cd94 -- specs/001-heltec-monitor/spec.md משחזר את ה-diff המדויק.</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ההוכחה הכי חזקה לערך של Spec Kit בכל ההרצאה -- אם הקהל זוכר רגע קונקרטי אחד מהסדנה, שיהיה זה. התמונה למטה היא ה-diff האמיתי: הניסוח הישן של SC-004 משמאל/אדום, הניסוח המתוקן מימין/ירוק, מראה את קריטריון ההצלחה מעודכן כדי להתאים להחלטת ההיסטרזיס מ-clarify. חשוב להדגיש: לא נכתב שום קוד עדיין כשזה נתפס -- לתקן סתירה בין שני מסמכי Markdown עולה כמה שניות; לתקן את אותה סתירה אחרי שכבר הפכה לשתי התנהגויות קושחה סותרות היה עולה הרבה יותר, ואולי בכלל לא היה נתפס בלי בדיקת חומרה שמפעילה בדיוק את מקרה הקצה הזה.</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implement הוא השלב שסוף-סוף כותב את קוד הקושחה בפועל, לפי plan.md ו-tasks.md, בסדר. מכיוון שלוגיקת ההחלטה (monitor_logic, מוצגת למעלה) תוכננה ללא שום תלות בחומרה עוד בשלב plan, אפשר להריץ עליה חבילת בדיקות אוטומטית ישירות על מחשב נייד -- בלי לוח Heltec, בלי כבל סריאלי, בלי שום דבר פיזי. הפאנל בפינה השמאלית-תחתונה הוא הפלט האמיתי, ללא עריכה, של הרצת הבדיקות הזו: 11 מתוך 11 עברו. זו הסיבה שכבר יש לנו ביטחון גבוה בלוגיקת ההחלטה עצמה עוד לפני שנגענו בחומרה אמיתית -- מה שעדיין לא מאומת זה רק החיווט הפיזי, החיישן והמסך, ובדיוק זה הנושא של שני השקפים הבאים.</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כל התוכן כאן תלוי בבדיקת החומרה הפיזית שטרם בוצעה.</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כל שלב כבר קיים כ-tag ברפוזיטורי -- ההדגמה לא תלויה בהרצת AI חיה שעלולה להיכשל על הבמה.</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ראו presentation/slide-links.md לרשימה המלאה.</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2103120"/>
            <a:ext cx="10362895" cy="1463040"/>
          </a:xfrm>
          <a:prstGeom prst="rect">
            <a:avLst/>
          </a:prstGeom>
          <a:noFill/>
        </p:spPr>
        <p:txBody>
          <a:bodyPr wrap="square">
            <a:spAutoFit/>
          </a:bodyPr>
          <a:lstStyle/>
          <a:p>
            <a:pPr algn="ctr" rtl="1"/>
            <a:r>
              <a:rPr sz="4800" b="1">
                <a:solidFill>
                  <a:srgbClr val="FFFFFF"/>
                </a:solidFill>
                <a:latin typeface="Arial"/>
              </a:rPr>
              <a:t>מ-Prompt ועד מוצר</a:t>
            </a:r>
          </a:p>
          <a:p>
            <a:pPr algn="ctr" rtl="1"/>
            <a:r>
              <a:rPr sz="2800">
                <a:solidFill>
                  <a:srgbClr val="A5B4FC"/>
                </a:solidFill>
                <a:latin typeface="Arial"/>
              </a:rPr>
              <a:t>Spec-Driven Development עם GitHub Spec Kit</a:t>
            </a:r>
          </a:p>
        </p:txBody>
      </p:sp>
      <p:sp>
        <p:nvSpPr>
          <p:cNvPr id="3" name="TextBox 2"/>
          <p:cNvSpPr txBox="1"/>
          <p:nvPr/>
        </p:nvSpPr>
        <p:spPr>
          <a:xfrm>
            <a:off x="914400" y="3931920"/>
            <a:ext cx="10362895" cy="731520"/>
          </a:xfrm>
          <a:prstGeom prst="rect">
            <a:avLst/>
          </a:prstGeom>
          <a:noFill/>
        </p:spPr>
        <p:txBody>
          <a:bodyPr wrap="none">
            <a:spAutoFit/>
          </a:bodyPr>
          <a:lstStyle/>
          <a:p>
            <a:pPr algn="ctr" rtl="1"/>
            <a:r>
              <a:rPr sz="2000" i="1">
                <a:solidFill>
                  <a:srgbClr val="CBD5E1"/>
                </a:solidFill>
                <a:latin typeface="Arial"/>
              </a:rPr>
              <a:t>דוגמה אמיתית על Heltec WiFi Kit V3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914400" y="1554480"/>
            <a:ext cx="10362895" cy="1645920"/>
          </a:xfrm>
          <a:prstGeom prst="rect">
            <a:avLst/>
          </a:prstGeom>
          <a:solidFill>
            <a:srgbClr val="F8FAFC"/>
          </a:solidFill>
          <a:ln>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457200" y="320040"/>
            <a:ext cx="11277295" cy="822960"/>
          </a:xfrm>
          <a:prstGeom prst="rect">
            <a:avLst/>
          </a:prstGeom>
          <a:noFill/>
        </p:spPr>
        <p:txBody>
          <a:bodyPr wrap="square">
            <a:spAutoFit/>
          </a:bodyPr>
          <a:lstStyle/>
          <a:p>
            <a:pPr algn="r" rtl="1"/>
            <a:r>
              <a:rPr sz="3000" b="1">
                <a:solidFill>
                  <a:srgbClr val="0F172A"/>
                </a:solidFill>
                <a:latin typeface="Arial"/>
              </a:rPr>
              <a:t>הפרומפט המעורפל</a:t>
            </a:r>
          </a:p>
        </p:txBody>
      </p:sp>
      <p:sp>
        <p:nvSpPr>
          <p:cNvPr id="3" name="TextBox 2"/>
          <p:cNvSpPr txBox="1"/>
          <p:nvPr/>
        </p:nvSpPr>
        <p:spPr>
          <a:xfrm>
            <a:off x="1097280" y="1645920"/>
            <a:ext cx="9997135" cy="1828800"/>
          </a:xfrm>
          <a:prstGeom prst="rect">
            <a:avLst/>
          </a:prstGeom>
          <a:noFill/>
        </p:spPr>
        <p:txBody>
          <a:bodyPr wrap="square">
            <a:spAutoFit/>
          </a:bodyPr>
          <a:lstStyle/>
          <a:p>
            <a:pPr algn="l"/>
            <a:r>
              <a:rPr sz="2200">
                <a:solidFill>
                  <a:srgbClr val="334155"/>
                </a:solidFill>
                <a:latin typeface="Courier New"/>
              </a:rPr>
              <a:t>Build an application for a Heltec WiFi Kit V3 that reads a sensor,
shows the value on the display, and shows a warning when the value is too high.</a:t>
            </a:r>
          </a:p>
        </p:txBody>
      </p:sp>
      <p:sp>
        <p:nvSpPr>
          <p:cNvPr id="5" name="TextBox 4"/>
          <p:cNvSpPr txBox="1"/>
          <p:nvPr/>
        </p:nvSpPr>
        <p:spPr>
          <a:xfrm>
            <a:off x="1097280" y="3840480"/>
            <a:ext cx="9997135" cy="914400"/>
          </a:xfrm>
          <a:prstGeom prst="rect">
            <a:avLst/>
          </a:prstGeom>
          <a:noFill/>
        </p:spPr>
        <p:txBody>
          <a:bodyPr wrap="square">
            <a:spAutoFit/>
          </a:bodyPr>
          <a:lstStyle/>
          <a:p>
            <a:pPr algn="ctr" rtl="1"/>
            <a:r>
              <a:rPr sz="2800" b="1">
                <a:solidFill>
                  <a:srgbClr val="B91C1C"/>
                </a:solidFill>
                <a:latin typeface="Arial"/>
              </a:rPr>
              <a:t>❓ האם יש כאן מספיק מידע כדי לבנות את המוצר הנכון?</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r" rtl="1"/>
            <a:r>
              <a:rPr sz="3000" b="1">
                <a:solidFill>
                  <a:srgbClr val="0F172A"/>
                </a:solidFill>
                <a:latin typeface="Arial"/>
              </a:rPr>
              <a:t>כל מה שהפרומפט לא ענה עליו</a:t>
            </a:r>
          </a:p>
        </p:txBody>
      </p:sp>
      <p:sp>
        <p:nvSpPr>
          <p:cNvPr id="3" name="TextBox 2"/>
          <p:cNvSpPr txBox="1"/>
          <p:nvPr/>
        </p:nvSpPr>
        <p:spPr>
          <a:xfrm>
            <a:off x="548640" y="1280160"/>
            <a:ext cx="11094415" cy="4206240"/>
          </a:xfrm>
          <a:prstGeom prst="rect">
            <a:avLst/>
          </a:prstGeom>
          <a:noFill/>
        </p:spPr>
        <p:txBody>
          <a:bodyPr wrap="square">
            <a:spAutoFit/>
          </a:bodyPr>
          <a:lstStyle/>
          <a:p>
            <a:pPr algn="r" rtl="1">
              <a:spcAft>
                <a:spcPts val="1200"/>
              </a:spcAft>
            </a:pPr>
            <a:r>
              <a:rPr sz="1800" b="0" i="1">
                <a:solidFill>
                  <a:srgbClr val="334155"/>
                </a:solidFill>
                <a:latin typeface="Arial"/>
              </a:rPr>
              <a:t>סוכן קידוד עדיין חייב לענות על כל אחת מהשאלות האלה -- הוא פשוט עונה עליהן בשקט, בניחוש:</a:t>
            </a:r>
          </a:p>
          <a:p>
            <a:pPr algn="r" rtl="1">
              <a:spcAft>
                <a:spcPts val="1200"/>
              </a:spcAft>
            </a:pPr>
            <a:r>
              <a:rPr sz="1900" b="0" i="0">
                <a:solidFill>
                  <a:srgbClr val="334155"/>
                </a:solidFill>
                <a:latin typeface="Arial"/>
              </a:rPr>
              <a:t>איזה חיישן בפועל מחובר? (טמפרטורה בלבד? טמפרטורה + לחות? איזה צ'יפ?)</a:t>
            </a:r>
          </a:p>
          <a:p>
            <a:pPr algn="r" rtl="1">
              <a:spcAft>
                <a:spcPts val="1200"/>
              </a:spcAft>
            </a:pPr>
            <a:r>
              <a:rPr sz="1900" b="0" i="0">
                <a:solidFill>
                  <a:srgbClr val="334155"/>
                </a:solidFill>
                <a:latin typeface="Arial"/>
              </a:rPr>
              <a:t>כל כמה זמן צריך לדגום את הערך -- פעם בשנייה? פעם בדקה?</a:t>
            </a:r>
          </a:p>
          <a:p>
            <a:pPr algn="r" rtl="1">
              <a:spcAft>
                <a:spcPts val="1200"/>
              </a:spcAft>
            </a:pPr>
            <a:r>
              <a:rPr sz="1900" b="0" i="0">
                <a:solidFill>
                  <a:srgbClr val="334155"/>
                </a:solidFill>
                <a:latin typeface="Arial"/>
              </a:rPr>
              <a:t>מה בדיוק נחשב "גבוה מדי" -- מה הסף המספרי המדויק?</a:t>
            </a:r>
          </a:p>
          <a:p>
            <a:pPr algn="r" rtl="1">
              <a:spcAft>
                <a:spcPts val="1200"/>
              </a:spcAft>
            </a:pPr>
            <a:r>
              <a:rPr sz="1900" b="0" i="0">
                <a:solidFill>
                  <a:srgbClr val="334155"/>
                </a:solidFill>
                <a:latin typeface="Arial"/>
              </a:rPr>
              <a:t>מה קורה בדיוק בסביבת הסף -- האם האזהרה מהבהבת כשהערך מרפרף שם?</a:t>
            </a:r>
          </a:p>
          <a:p>
            <a:pPr algn="r" rtl="1">
              <a:spcAft>
                <a:spcPts val="1200"/>
              </a:spcAft>
            </a:pPr>
            <a:r>
              <a:rPr sz="1900" b="0" i="0">
                <a:solidFill>
                  <a:srgbClr val="334155"/>
                </a:solidFill>
                <a:latin typeface="Arial"/>
              </a:rPr>
              <a:t>כשהאזהרה כבר מוצגת, באיזו נקודה בדיוק היא נכבית?</a:t>
            </a:r>
          </a:p>
          <a:p>
            <a:pPr algn="r" rtl="1">
              <a:spcAft>
                <a:spcPts val="1200"/>
              </a:spcAft>
            </a:pPr>
            <a:r>
              <a:rPr sz="1900" b="0" i="0">
                <a:solidFill>
                  <a:srgbClr val="334155"/>
                </a:solidFill>
                <a:latin typeface="Arial"/>
              </a:rPr>
              <a:t>מה צריך לקרות אם החיישן מפסיק להגיב או מחזיר ערך שגוי?</a:t>
            </a:r>
          </a:p>
          <a:p>
            <a:pPr algn="r" rtl="1">
              <a:spcAft>
                <a:spcPts val="1200"/>
              </a:spcAft>
            </a:pPr>
            <a:r>
              <a:rPr sz="1900" b="0" i="0">
                <a:solidFill>
                  <a:srgbClr val="334155"/>
                </a:solidFill>
                <a:latin typeface="Arial"/>
              </a:rPr>
              <a:t>מה המסך אמור להציג בזמן שהתקלה הזו קורית?</a:t>
            </a:r>
          </a:p>
          <a:p>
            <a:pPr algn="r" rtl="1">
              <a:spcAft>
                <a:spcPts val="1200"/>
              </a:spcAft>
            </a:pPr>
            <a:r>
              <a:rPr sz="1900" b="0" i="0">
                <a:solidFill>
                  <a:srgbClr val="334155"/>
                </a:solidFill>
                <a:latin typeface="Arial"/>
              </a:rPr>
              <a:t>מה, אם בכלל, נכתב לקונסולת ה-Serial לצורך דיבוג?</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2377440"/>
            <a:ext cx="10362895" cy="2011680"/>
          </a:xfrm>
          <a:prstGeom prst="rect">
            <a:avLst/>
          </a:prstGeom>
          <a:noFill/>
        </p:spPr>
        <p:txBody>
          <a:bodyPr wrap="square">
            <a:spAutoFit/>
          </a:bodyPr>
          <a:lstStyle/>
          <a:p>
            <a:pPr algn="ctr" rtl="1"/>
            <a:r>
              <a:rPr sz="3000" b="1">
                <a:solidFill>
                  <a:srgbClr val="FFFFFF"/>
                </a:solidFill>
                <a:latin typeface="Arial"/>
              </a:rPr>
              <a:t>הבעיה היא בדרך כלל לא שה-AI לא יודע לכתוב קוד.</a:t>
            </a:r>
          </a:p>
          <a:p>
            <a:pPr algn="ctr" rtl="1"/>
            <a:r>
              <a:rPr sz="3000" b="1">
                <a:solidFill>
                  <a:srgbClr val="FCD34D"/>
                </a:solidFill>
                <a:latin typeface="Arial"/>
              </a:rPr>
              <a:t>הבעיה היא שהתנהגות המוצר לא הוגדרה מספיק.</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r" rtl="1"/>
            <a:r>
              <a:rPr sz="3000" b="1">
                <a:solidFill>
                  <a:srgbClr val="0F172A"/>
                </a:solidFill>
                <a:latin typeface="Arial"/>
              </a:rPr>
              <a:t>מ-Prompt ללולאה אינסופית</a:t>
            </a:r>
          </a:p>
        </p:txBody>
      </p:sp>
      <p:pic>
        <p:nvPicPr>
          <p:cNvPr id="3" name="Picture 2" descr="diagram-prompt-vs-spec.png"/>
          <p:cNvPicPr>
            <a:picLocks noChangeAspect="1"/>
          </p:cNvPicPr>
          <p:nvPr/>
        </p:nvPicPr>
        <p:blipFill>
          <a:blip r:embed="rId2"/>
          <a:stretch>
            <a:fillRect/>
          </a:stretch>
        </p:blipFill>
        <p:spPr>
          <a:xfrm>
            <a:off x="457200" y="1188720"/>
            <a:ext cx="11277295" cy="473646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r" rtl="1"/>
            <a:r>
              <a:rPr sz="3000" b="1">
                <a:solidFill>
                  <a:srgbClr val="0F172A"/>
                </a:solidFill>
                <a:latin typeface="Arial"/>
              </a:rPr>
              <a:t>האלטרנטיבה: תהליך מונחה-מפרט</a:t>
            </a:r>
          </a:p>
        </p:txBody>
      </p:sp>
      <p:pic>
        <p:nvPicPr>
          <p:cNvPr id="3" name="Picture 2" descr="diagram-prompt-vs-spec.png"/>
          <p:cNvPicPr>
            <a:picLocks noChangeAspect="1"/>
          </p:cNvPicPr>
          <p:nvPr/>
        </p:nvPicPr>
        <p:blipFill>
          <a:blip r:embed="rId2"/>
          <a:stretch>
            <a:fillRect/>
          </a:stretch>
        </p:blipFill>
        <p:spPr>
          <a:xfrm>
            <a:off x="457200" y="1188720"/>
            <a:ext cx="11277295" cy="473646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r" rtl="1"/>
            <a:r>
              <a:rPr sz="3000" b="1">
                <a:solidFill>
                  <a:srgbClr val="0F172A"/>
                </a:solidFill>
                <a:latin typeface="Arial"/>
              </a:rPr>
              <a:t>מה כל שלב תופס</a:t>
            </a:r>
          </a:p>
        </p:txBody>
      </p:sp>
      <p:sp>
        <p:nvSpPr>
          <p:cNvPr id="3" name="TextBox 2"/>
          <p:cNvSpPr txBox="1"/>
          <p:nvPr/>
        </p:nvSpPr>
        <p:spPr>
          <a:xfrm>
            <a:off x="731520" y="960120"/>
            <a:ext cx="10728655" cy="457200"/>
          </a:xfrm>
          <a:prstGeom prst="rect">
            <a:avLst/>
          </a:prstGeom>
          <a:noFill/>
        </p:spPr>
        <p:txBody>
          <a:bodyPr wrap="square">
            <a:spAutoFit/>
          </a:bodyPr>
          <a:lstStyle/>
          <a:p>
            <a:pPr algn="r" rtl="1"/>
            <a:r>
              <a:rPr sz="1800" i="1">
                <a:solidFill>
                  <a:srgbClr val="334155"/>
                </a:solidFill>
                <a:latin typeface="Arial"/>
              </a:rPr>
              <a:t>כל שלב קיים כדי לתפוס סוג ספציפי של טעות -- לפני שהיא הופכת לקוד:</a:t>
            </a:r>
          </a:p>
        </p:txBody>
      </p:sp>
      <p:sp>
        <p:nvSpPr>
          <p:cNvPr id="4" name="TextBox 3"/>
          <p:cNvSpPr txBox="1"/>
          <p:nvPr/>
        </p:nvSpPr>
        <p:spPr>
          <a:xfrm>
            <a:off x="731520" y="1600200"/>
            <a:ext cx="10728655" cy="621792"/>
          </a:xfrm>
          <a:prstGeom prst="rect">
            <a:avLst/>
          </a:prstGeom>
          <a:noFill/>
        </p:spPr>
        <p:txBody>
          <a:bodyPr wrap="none">
            <a:spAutoFit/>
          </a:bodyPr>
          <a:lstStyle/>
          <a:p>
            <a:pPr algn="r" rtl="1"/>
            <a:r>
              <a:rPr sz="2000" i="0">
                <a:solidFill>
                  <a:srgbClr val="334155"/>
                </a:solidFill>
                <a:latin typeface="Arial"/>
              </a:rPr>
              <a:t>כלל נשבר בשקט כי אף אחד לא כתב אותו    ←    </a:t>
            </a:r>
            <a:r>
              <a:rPr sz="2100" b="1">
                <a:solidFill>
                  <a:srgbClr val="2563EB"/>
                </a:solidFill>
                <a:latin typeface="Courier New"/>
              </a:rPr>
              <a:t>constitution</a:t>
            </a:r>
          </a:p>
        </p:txBody>
      </p:sp>
      <p:sp>
        <p:nvSpPr>
          <p:cNvPr id="5" name="TextBox 4"/>
          <p:cNvSpPr txBox="1"/>
          <p:nvPr/>
        </p:nvSpPr>
        <p:spPr>
          <a:xfrm>
            <a:off x="731520" y="2221992"/>
            <a:ext cx="10728655" cy="621792"/>
          </a:xfrm>
          <a:prstGeom prst="rect">
            <a:avLst/>
          </a:prstGeom>
          <a:noFill/>
        </p:spPr>
        <p:txBody>
          <a:bodyPr wrap="none">
            <a:spAutoFit/>
          </a:bodyPr>
          <a:lstStyle/>
          <a:p>
            <a:pPr algn="r" rtl="1"/>
            <a:r>
              <a:rPr sz="2000" i="0">
                <a:solidFill>
                  <a:srgbClr val="334155"/>
                </a:solidFill>
                <a:latin typeface="Arial"/>
              </a:rPr>
              <a:t>לא סיכמנו מה זה עושה    ←    </a:t>
            </a:r>
            <a:r>
              <a:rPr sz="2100" b="1">
                <a:solidFill>
                  <a:srgbClr val="2563EB"/>
                </a:solidFill>
                <a:latin typeface="Courier New"/>
              </a:rPr>
              <a:t>specify</a:t>
            </a:r>
          </a:p>
        </p:txBody>
      </p:sp>
      <p:sp>
        <p:nvSpPr>
          <p:cNvPr id="6" name="TextBox 5"/>
          <p:cNvSpPr txBox="1"/>
          <p:nvPr/>
        </p:nvSpPr>
        <p:spPr>
          <a:xfrm>
            <a:off x="731520" y="2843784"/>
            <a:ext cx="10728655" cy="621792"/>
          </a:xfrm>
          <a:prstGeom prst="rect">
            <a:avLst/>
          </a:prstGeom>
          <a:noFill/>
        </p:spPr>
        <p:txBody>
          <a:bodyPr wrap="none">
            <a:spAutoFit/>
          </a:bodyPr>
          <a:lstStyle/>
          <a:p>
            <a:pPr algn="r" rtl="1"/>
            <a:r>
              <a:rPr sz="2000" i="0">
                <a:solidFill>
                  <a:srgbClr val="334155"/>
                </a:solidFill>
                <a:latin typeface="Arial"/>
              </a:rPr>
              <a:t>סיכמנו את המסלול הראשי, לא את הקצוות    ←    </a:t>
            </a:r>
            <a:r>
              <a:rPr sz="2100" b="1">
                <a:solidFill>
                  <a:srgbClr val="2563EB"/>
                </a:solidFill>
                <a:latin typeface="Courier New"/>
              </a:rPr>
              <a:t>clarify</a:t>
            </a:r>
          </a:p>
        </p:txBody>
      </p:sp>
      <p:sp>
        <p:nvSpPr>
          <p:cNvPr id="7" name="TextBox 6"/>
          <p:cNvSpPr txBox="1"/>
          <p:nvPr/>
        </p:nvSpPr>
        <p:spPr>
          <a:xfrm>
            <a:off x="731520" y="3465576"/>
            <a:ext cx="10728655" cy="621792"/>
          </a:xfrm>
          <a:prstGeom prst="rect">
            <a:avLst/>
          </a:prstGeom>
          <a:noFill/>
        </p:spPr>
        <p:txBody>
          <a:bodyPr wrap="none">
            <a:spAutoFit/>
          </a:bodyPr>
          <a:lstStyle/>
          <a:p>
            <a:pPr algn="r" rtl="1"/>
            <a:r>
              <a:rPr sz="2000" i="0">
                <a:solidFill>
                  <a:srgbClr val="334155"/>
                </a:solidFill>
                <a:latin typeface="Arial"/>
              </a:rPr>
              <a:t>סיכמנו מה, לא איך -- ול'איך' יש אילוצים אמיתיים    ←    </a:t>
            </a:r>
            <a:r>
              <a:rPr sz="2100" b="1">
                <a:solidFill>
                  <a:srgbClr val="2563EB"/>
                </a:solidFill>
                <a:latin typeface="Courier New"/>
              </a:rPr>
              <a:t>plan</a:t>
            </a:r>
          </a:p>
        </p:txBody>
      </p:sp>
      <p:sp>
        <p:nvSpPr>
          <p:cNvPr id="8" name="TextBox 7"/>
          <p:cNvSpPr txBox="1"/>
          <p:nvPr/>
        </p:nvSpPr>
        <p:spPr>
          <a:xfrm>
            <a:off x="731520" y="4087368"/>
            <a:ext cx="10728655" cy="621792"/>
          </a:xfrm>
          <a:prstGeom prst="rect">
            <a:avLst/>
          </a:prstGeom>
          <a:noFill/>
        </p:spPr>
        <p:txBody>
          <a:bodyPr wrap="none">
            <a:spAutoFit/>
          </a:bodyPr>
          <a:lstStyle/>
          <a:p>
            <a:pPr algn="r" rtl="1"/>
            <a:r>
              <a:rPr sz="2000" i="0">
                <a:solidFill>
                  <a:srgbClr val="334155"/>
                </a:solidFill>
                <a:latin typeface="Arial"/>
              </a:rPr>
              <a:t>אנחנו יודעים את התוכנית, לא את הסדר או התלויות    ←    </a:t>
            </a:r>
            <a:r>
              <a:rPr sz="2100" b="1">
                <a:solidFill>
                  <a:srgbClr val="2563EB"/>
                </a:solidFill>
                <a:latin typeface="Courier New"/>
              </a:rPr>
              <a:t>tasks</a:t>
            </a:r>
          </a:p>
        </p:txBody>
      </p:sp>
      <p:sp>
        <p:nvSpPr>
          <p:cNvPr id="9" name="TextBox 8"/>
          <p:cNvSpPr txBox="1"/>
          <p:nvPr/>
        </p:nvSpPr>
        <p:spPr>
          <a:xfrm>
            <a:off x="731520" y="4709160"/>
            <a:ext cx="10728655" cy="621792"/>
          </a:xfrm>
          <a:prstGeom prst="rect">
            <a:avLst/>
          </a:prstGeom>
          <a:noFill/>
        </p:spPr>
        <p:txBody>
          <a:bodyPr wrap="none">
            <a:spAutoFit/>
          </a:bodyPr>
          <a:lstStyle/>
          <a:p>
            <a:pPr algn="r" rtl="1"/>
            <a:r>
              <a:rPr sz="2000" i="0">
                <a:solidFill>
                  <a:srgbClr val="334155"/>
                </a:solidFill>
                <a:latin typeface="Arial"/>
              </a:rPr>
              <a:t>שני מסמכים שלנו סותרים אחד את השני בשקט    ←    </a:t>
            </a:r>
            <a:r>
              <a:rPr sz="2100" b="1">
                <a:solidFill>
                  <a:srgbClr val="2563EB"/>
                </a:solidFill>
                <a:latin typeface="Courier New"/>
              </a:rPr>
              <a:t>analyze</a:t>
            </a:r>
          </a:p>
        </p:txBody>
      </p:sp>
      <p:sp>
        <p:nvSpPr>
          <p:cNvPr id="10" name="TextBox 9"/>
          <p:cNvSpPr txBox="1"/>
          <p:nvPr/>
        </p:nvSpPr>
        <p:spPr>
          <a:xfrm>
            <a:off x="731520" y="5330952"/>
            <a:ext cx="10728655" cy="621792"/>
          </a:xfrm>
          <a:prstGeom prst="rect">
            <a:avLst/>
          </a:prstGeom>
          <a:noFill/>
        </p:spPr>
        <p:txBody>
          <a:bodyPr wrap="none">
            <a:spAutoFit/>
          </a:bodyPr>
          <a:lstStyle/>
          <a:p>
            <a:pPr algn="r" rtl="1"/>
            <a:r>
              <a:rPr sz="2000" i="1">
                <a:solidFill>
                  <a:srgbClr val="334155"/>
                </a:solidFill>
                <a:latin typeface="Arial"/>
              </a:rPr>
              <a:t>(זה השלב היחיד שממנו פרומפט-בלבד מתחיל)    ←    </a:t>
            </a:r>
            <a:r>
              <a:rPr sz="2100" b="1">
                <a:solidFill>
                  <a:srgbClr val="2563EB"/>
                </a:solidFill>
                <a:latin typeface="Courier New"/>
              </a:rPr>
              <a:t>implement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r" rtl="1"/>
            <a:r>
              <a:rPr sz="3000" b="1">
                <a:solidFill>
                  <a:srgbClr val="0F172A"/>
                </a:solidFill>
                <a:latin typeface="Arial"/>
              </a:rPr>
              <a:t>מה זה GitHub Spec Kit -- ולמה הוא בכלל קיים?</a:t>
            </a:r>
          </a:p>
        </p:txBody>
      </p:sp>
      <p:sp>
        <p:nvSpPr>
          <p:cNvPr id="3" name="TextBox 2"/>
          <p:cNvSpPr txBox="1"/>
          <p:nvPr/>
        </p:nvSpPr>
        <p:spPr>
          <a:xfrm>
            <a:off x="548640" y="1143000"/>
            <a:ext cx="11094415" cy="4297680"/>
          </a:xfrm>
          <a:prstGeom prst="rect">
            <a:avLst/>
          </a:prstGeom>
          <a:noFill/>
        </p:spPr>
        <p:txBody>
          <a:bodyPr wrap="square">
            <a:spAutoFit/>
          </a:bodyPr>
          <a:lstStyle/>
          <a:p>
            <a:pPr algn="r" rtl="1">
              <a:spcAft>
                <a:spcPts val="1200"/>
              </a:spcAft>
            </a:pPr>
            <a:r>
              <a:rPr sz="2000" b="1" i="0">
                <a:solidFill>
                  <a:srgbClr val="334155"/>
                </a:solidFill>
                <a:latin typeface="Arial"/>
              </a:rPr>
              <a:t>זה כלי קוד פתוח שפרסמה GitHub עצמה (github.com/github/spec-kit) -- חינמי, לא מוצר שקונים.</a:t>
            </a:r>
          </a:p>
          <a:p>
            <a:pPr algn="r" rtl="1">
              <a:spcAft>
                <a:spcPts val="1200"/>
              </a:spcAft>
            </a:pPr>
            <a:r>
              <a:rPr sz="2000" b="0" i="0">
                <a:solidFill>
                  <a:srgbClr val="334155"/>
                </a:solidFill>
                <a:latin typeface="Arial"/>
              </a:rPr>
              <a:t>בפועל, מדובר בשני דברים: כלי שורת-פקודה קטן בשם specify, ועוד סט של Skills/Commands (פקודות ה-/speckit-... שהצגנו) שהוא מתקין אצל סוכן הקידוד שלכם -- Claude Code, Codex, או אחרים.</a:t>
            </a:r>
          </a:p>
          <a:p>
            <a:pPr algn="r" rtl="1">
              <a:spcAft>
                <a:spcPts val="1200"/>
              </a:spcAft>
            </a:pPr>
            <a:r>
              <a:rPr sz="2000" b="0" i="0">
                <a:solidFill>
                  <a:srgbClr val="334155"/>
                </a:solidFill>
                <a:latin typeface="Arial"/>
              </a:rPr>
              <a:t>Spec Kit לא כותב את קוד האפליקציה בעצמו, והוא גם לא מודל AI. הוא מבנה את *התהליך* שאדם וסוכן AI עוברים יחד לפני ותוך כדי כתיבת הקוד: להסכים על כללים, לכתוב דרישות, לפתור אי-בהירות, לתכנן את הגישה הטכנית, לפרק לעבודה למשימות, לבדוק הכול לסתירות, ורק אז לממש.</a:t>
            </a:r>
          </a:p>
          <a:p>
            <a:pPr algn="r" rtl="1">
              <a:spcAft>
                <a:spcPts val="1200"/>
              </a:spcAft>
            </a:pPr>
            <a:r>
              <a:rPr sz="1800" b="0" i="0">
                <a:solidFill>
                  <a:srgbClr val="334155"/>
                </a:solidFill>
                <a:latin typeface="Arial"/>
              </a:rPr>
              <a:t>למה GitHub בנתה את זה: ככל שסוכני קידוד AI נהיו מהירים מספיק לייצר פיצ'רים שלמים תוך שניות, צוותים גילו שהקוד כבר כמעט אף פעם לא צוואר הבקבוק -- דרישות לא ברורות או לא כתובות היו. הדפוס הזה נקרא "פיתוח מונחה-מפרט" (spec-driven development), ו-Spec Kit הוא הכלים של GitHub בשבילו: דרך מעשית לשמור על המהירות של סוכן AI בלי לוותר על המשמעת של לדעת מה בדיוק בונים.</a:t>
            </a:r>
          </a:p>
        </p:txBody>
      </p:sp>
      <p:sp>
        <p:nvSpPr>
          <p:cNvPr id="4" name="Rectangle 3"/>
          <p:cNvSpPr/>
          <p:nvPr/>
        </p:nvSpPr>
        <p:spPr>
          <a:xfrm>
            <a:off x="731520" y="5532120"/>
            <a:ext cx="10728655" cy="1005840"/>
          </a:xfrm>
          <a:prstGeom prst="rect">
            <a:avLst/>
          </a:prstGeom>
          <a:solidFill>
            <a:srgbClr val="F1F5F9"/>
          </a:solidFill>
          <a:ln w="19050">
            <a:solidFill>
              <a:srgbClr val="94A3B8"/>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rtl="1"/>
            <a:r>
              <a:rPr sz="1600" i="1" b="1">
                <a:solidFill>
                  <a:srgbClr val="64748B"/>
                </a:solidFill>
              </a:rPr>
              <a:t>📷 Spec Kit website + GitHub repo</a:t>
            </a:r>
          </a:p>
          <a:p>
            <a:pPr algn="ctr" rtl="1"/>
            <a:r>
              <a:rPr sz="1300" i="1">
                <a:solidFill>
                  <a:srgbClr val="64748B"/>
                </a:solidFill>
              </a:rPr>
              <a:t>(מסך אמיתי / צילום מסך חסר -- ראו screenshot-checklist.md)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r" rtl="1"/>
            <a:r>
              <a:rPr sz="3000" b="1">
                <a:solidFill>
                  <a:srgbClr val="0F172A"/>
                </a:solidFill>
                <a:latin typeface="Arial"/>
              </a:rPr>
              <a:t>התקנה</a:t>
            </a:r>
          </a:p>
        </p:txBody>
      </p:sp>
      <p:sp>
        <p:nvSpPr>
          <p:cNvPr id="3" name="TextBox 2"/>
          <p:cNvSpPr txBox="1"/>
          <p:nvPr/>
        </p:nvSpPr>
        <p:spPr>
          <a:xfrm>
            <a:off x="1097280" y="1371600"/>
            <a:ext cx="9997135" cy="914400"/>
          </a:xfrm>
          <a:prstGeom prst="rect">
            <a:avLst/>
          </a:prstGeom>
          <a:noFill/>
        </p:spPr>
        <p:txBody>
          <a:bodyPr wrap="none">
            <a:spAutoFit/>
          </a:bodyPr>
          <a:lstStyle/>
          <a:p>
            <a:pPr algn="l"/>
            <a:r>
              <a:rPr sz="2000">
                <a:solidFill>
                  <a:srgbClr val="334155"/>
                </a:solidFill>
                <a:latin typeface="Courier New"/>
              </a:rPr>
              <a:t>uv tool install specify-cli
specify init --here --integration claude</a:t>
            </a:r>
          </a:p>
        </p:txBody>
      </p:sp>
      <p:pic>
        <p:nvPicPr>
          <p:cNvPr id="4" name="Picture 3" descr="terminal-specify-init.png"/>
          <p:cNvPicPr>
            <a:picLocks noChangeAspect="1"/>
          </p:cNvPicPr>
          <p:nvPr/>
        </p:nvPicPr>
        <p:blipFill>
          <a:blip r:embed="rId2"/>
          <a:stretch>
            <a:fillRect/>
          </a:stretch>
        </p:blipFill>
        <p:spPr>
          <a:xfrm>
            <a:off x="914400" y="2468880"/>
            <a:ext cx="10332720" cy="4042677"/>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r" rtl="1"/>
            <a:r>
              <a:rPr sz="3000" b="1">
                <a:solidFill>
                  <a:srgbClr val="0F172A"/>
                </a:solidFill>
                <a:latin typeface="Arial"/>
              </a:rPr>
              <a:t>תהליך העבודה בשבעה שלבים</a:t>
            </a:r>
          </a:p>
        </p:txBody>
      </p:sp>
      <p:pic>
        <p:nvPicPr>
          <p:cNvPr id="3" name="Picture 2" descr="diagram-speckit-workflow.png"/>
          <p:cNvPicPr>
            <a:picLocks noChangeAspect="1"/>
          </p:cNvPicPr>
          <p:nvPr/>
        </p:nvPicPr>
        <p:blipFill>
          <a:blip r:embed="rId2"/>
          <a:stretch>
            <a:fillRect/>
          </a:stretch>
        </p:blipFill>
        <p:spPr>
          <a:xfrm>
            <a:off x="548640" y="1463040"/>
            <a:ext cx="11094415" cy="232454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r" rtl="1"/>
            <a:r>
              <a:rPr sz="3000" b="1">
                <a:solidFill>
                  <a:srgbClr val="0F172A"/>
                </a:solidFill>
                <a:latin typeface="Arial"/>
              </a:rPr>
              <a:t>התוצר: קבצים אמיתיים ברפוזיטורי</a:t>
            </a:r>
          </a:p>
        </p:txBody>
      </p:sp>
      <p:sp>
        <p:nvSpPr>
          <p:cNvPr id="3" name="TextBox 2"/>
          <p:cNvSpPr txBox="1"/>
          <p:nvPr/>
        </p:nvSpPr>
        <p:spPr>
          <a:xfrm>
            <a:off x="548640" y="1280160"/>
            <a:ext cx="11094415" cy="4206240"/>
          </a:xfrm>
          <a:prstGeom prst="rect">
            <a:avLst/>
          </a:prstGeom>
          <a:noFill/>
        </p:spPr>
        <p:txBody>
          <a:bodyPr wrap="square">
            <a:spAutoFit/>
          </a:bodyPr>
          <a:lstStyle/>
          <a:p>
            <a:pPr algn="r" rtl="1">
              <a:spcAft>
                <a:spcPts val="1200"/>
              </a:spcAft>
            </a:pPr>
            <a:r>
              <a:rPr sz="2400" b="1" i="0">
                <a:solidFill>
                  <a:srgbClr val="2563EB"/>
                </a:solidFill>
                <a:latin typeface="Arial"/>
              </a:rPr>
              <a:t>specs/001-heltec-monitor/{spec,plan,tasks}.md</a:t>
            </a:r>
          </a:p>
          <a:p>
            <a:pPr algn="r" rtl="1">
              <a:spcAft>
                <a:spcPts val="1200"/>
              </a:spcAft>
            </a:pPr>
            <a:r>
              <a:rPr sz="2100" b="0" i="0">
                <a:solidFill>
                  <a:srgbClr val="334155"/>
                </a:solidFill>
                <a:latin typeface="Arial"/>
              </a:rPr>
              <a:t>כל שלב כותב קבצי Markdown רגילים לתוך הרפוזיטורי -- הם נשמרים ב-git כמו כל קובץ מקור אחר.</a:t>
            </a:r>
          </a:p>
          <a:p>
            <a:pPr algn="r" rtl="1">
              <a:spcAft>
                <a:spcPts val="1200"/>
              </a:spcAft>
            </a:pPr>
            <a:r>
              <a:rPr sz="2100" b="0" i="0">
                <a:solidFill>
                  <a:srgbClr val="334155"/>
                </a:solidFill>
                <a:latin typeface="Arial"/>
              </a:rPr>
              <a:t>זה ההפך משיחת צ'אט, שחיה בכלי אחד, קל לאבד אותה, וקשה לאדם נוסף (או סוכן AI נוסף) להמשיך ממנה.</a:t>
            </a:r>
          </a:p>
          <a:p>
            <a:pPr algn="r" rtl="1">
              <a:spcAft>
                <a:spcPts val="1200"/>
              </a:spcAft>
            </a:pPr>
            <a:r>
              <a:rPr sz="2100" b="0" i="0">
                <a:solidFill>
                  <a:srgbClr val="334155"/>
                </a:solidFill>
                <a:latin typeface="Arial"/>
              </a:rPr>
              <a:t>התועלת המעשית: אפשר לסגור את הצ'אט, לעבור מ-Claude Code ל-Codex, או לחזור לפרויקט אחרי חודש, לפתוח את spec.md, ולראות בדיוק מה הוחלט ולמה -- בלי לשחזר את זה מהזיכרון.</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r" rtl="1"/>
            <a:r>
              <a:rPr sz="3000" b="1">
                <a:solidFill>
                  <a:srgbClr val="0F172A"/>
                </a:solidFill>
                <a:latin typeface="Arial"/>
              </a:rPr>
              <a:t>מי עושה מה</a:t>
            </a:r>
          </a:p>
        </p:txBody>
      </p:sp>
      <p:pic>
        <p:nvPicPr>
          <p:cNvPr id="3" name="Picture 2" descr="diagram-tool-relationship.png"/>
          <p:cNvPicPr>
            <a:picLocks noChangeAspect="1"/>
          </p:cNvPicPr>
          <p:nvPr/>
        </p:nvPicPr>
        <p:blipFill>
          <a:blip r:embed="rId2"/>
          <a:stretch>
            <a:fillRect/>
          </a:stretch>
        </p:blipFill>
        <p:spPr>
          <a:xfrm>
            <a:off x="1828800" y="1097280"/>
            <a:ext cx="8348870" cy="54864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r" rtl="1"/>
            <a:r>
              <a:rPr sz="3000" b="1">
                <a:solidFill>
                  <a:srgbClr val="0F172A"/>
                </a:solidFill>
                <a:latin typeface="Arial"/>
              </a:rPr>
              <a:t>אותו ריפו, שני סוכנים</a:t>
            </a:r>
          </a:p>
        </p:txBody>
      </p:sp>
      <p:sp>
        <p:nvSpPr>
          <p:cNvPr id="3" name="TextBox 2"/>
          <p:cNvSpPr txBox="1"/>
          <p:nvPr/>
        </p:nvSpPr>
        <p:spPr>
          <a:xfrm>
            <a:off x="548640" y="1417320"/>
            <a:ext cx="11094415" cy="4206240"/>
          </a:xfrm>
          <a:prstGeom prst="rect">
            <a:avLst/>
          </a:prstGeom>
          <a:noFill/>
        </p:spPr>
        <p:txBody>
          <a:bodyPr wrap="square">
            <a:spAutoFit/>
          </a:bodyPr>
          <a:lstStyle/>
          <a:p>
            <a:pPr algn="r" rtl="1">
              <a:spcAft>
                <a:spcPts val="1200"/>
              </a:spcAft>
            </a:pPr>
            <a:r>
              <a:rPr sz="2200" b="0" i="0">
                <a:solidFill>
                  <a:srgbClr val="2563EB"/>
                </a:solidFill>
                <a:latin typeface="Arial"/>
              </a:rPr>
              <a:t>Claude Code  ←  /speckit-specify   (.claude/skills/)</a:t>
            </a:r>
          </a:p>
          <a:p>
            <a:pPr algn="r" rtl="1">
              <a:spcAft>
                <a:spcPts val="1200"/>
              </a:spcAft>
            </a:pPr>
            <a:r>
              <a:rPr sz="2200" b="0" i="0">
                <a:solidFill>
                  <a:srgbClr val="D97706"/>
                </a:solidFill>
                <a:latin typeface="Arial"/>
              </a:rPr>
              <a:t>Codex  ←  $speckit-specify   (.agents/skills/)</a:t>
            </a:r>
          </a:p>
          <a:p>
            <a:pPr algn="r" rtl="1">
              <a:spcAft>
                <a:spcPts val="1200"/>
              </a:spcAft>
            </a:pPr>
            <a:r>
              <a:rPr sz="2000" b="0" i="0">
                <a:solidFill>
                  <a:srgbClr val="334155"/>
                </a:solidFill>
                <a:latin typeface="Arial"/>
              </a:rPr>
              <a:t>אותה פקודה, אותם קבצים בבסיס, אותה תוצאה -- רק תחביר ההפעלה שונה, כי לכל סוכן יש מוסכמה משלו להפעלת פקודה מותאמת אישית.</a:t>
            </a:r>
          </a:p>
          <a:p>
            <a:pPr algn="r" rtl="1">
              <a:spcAft>
                <a:spcPts val="1200"/>
              </a:spcAft>
            </a:pPr>
            <a:r>
              <a:rPr sz="2000" b="0" i="0">
                <a:solidFill>
                  <a:srgbClr val="334155"/>
                </a:solidFill>
                <a:latin typeface="Arial"/>
              </a:rPr>
              <a:t>זו לא טענה תיאורטית -- הריפו הזה בדיוק מותקן עם שני האינטגרציות במקביל, וכל סוכן יכול להמשיך בדיוק מהמקום שהשני עצר בו.</a:t>
            </a:r>
          </a:p>
        </p:txBody>
      </p:sp>
      <p:sp>
        <p:nvSpPr>
          <p:cNvPr id="4" name="Rectangle 3"/>
          <p:cNvSpPr/>
          <p:nvPr/>
        </p:nvSpPr>
        <p:spPr>
          <a:xfrm>
            <a:off x="731520" y="3931920"/>
            <a:ext cx="10728655" cy="1920240"/>
          </a:xfrm>
          <a:prstGeom prst="rect">
            <a:avLst/>
          </a:prstGeom>
          <a:solidFill>
            <a:srgbClr val="F1F5F9"/>
          </a:solidFill>
          <a:ln w="19050">
            <a:solidFill>
              <a:srgbClr val="94A3B8"/>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rtl="1"/>
            <a:r>
              <a:rPr sz="1600" i="1" b="1">
                <a:solidFill>
                  <a:srgbClr val="64748B"/>
                </a:solidFill>
              </a:rPr>
              <a:t>📷 Claude Code + Codex session (same repo)</a:t>
            </a:r>
          </a:p>
          <a:p>
            <a:pPr algn="ctr" rtl="1"/>
            <a:r>
              <a:rPr sz="1300" i="1">
                <a:solidFill>
                  <a:srgbClr val="64748B"/>
                </a:solidFill>
              </a:rPr>
              <a:t>(מסך אמיתי / צילום מסך חסר -- ראו screenshot-checklist.md)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r" rtl="1"/>
            <a:r>
              <a:rPr sz="3000" b="1">
                <a:solidFill>
                  <a:srgbClr val="0F172A"/>
                </a:solidFill>
                <a:latin typeface="Arial"/>
              </a:rPr>
              <a:t>VS Code בקצרה</a:t>
            </a:r>
          </a:p>
        </p:txBody>
      </p:sp>
      <p:sp>
        <p:nvSpPr>
          <p:cNvPr id="3" name="TextBox 2"/>
          <p:cNvSpPr txBox="1"/>
          <p:nvPr/>
        </p:nvSpPr>
        <p:spPr>
          <a:xfrm>
            <a:off x="548640" y="1280160"/>
            <a:ext cx="11094415" cy="4206240"/>
          </a:xfrm>
          <a:prstGeom prst="rect">
            <a:avLst/>
          </a:prstGeom>
          <a:noFill/>
        </p:spPr>
        <p:txBody>
          <a:bodyPr wrap="square">
            <a:spAutoFit/>
          </a:bodyPr>
          <a:lstStyle/>
          <a:p>
            <a:pPr algn="r" rtl="1">
              <a:spcAft>
                <a:spcPts val="1200"/>
              </a:spcAft>
            </a:pPr>
            <a:r>
              <a:rPr sz="2100" b="0" i="0">
                <a:solidFill>
                  <a:srgbClr val="334155"/>
                </a:solidFill>
                <a:latin typeface="Arial"/>
              </a:rPr>
              <a:t>שני extensions עושים כאן את כל העבודה בפועל: PlatformIO IDE (בונה ומעלה את הקושחה, מנהל את שרשרת הכלים של ESP32) ו-C/C++ (הדגשת תחביר וניווט לקוד המקור של הקושחה).</a:t>
            </a:r>
          </a:p>
          <a:p>
            <a:pPr algn="r" rtl="1">
              <a:spcAft>
                <a:spcPts val="1200"/>
              </a:spcAft>
            </a:pPr>
            <a:r>
              <a:rPr sz="2100" b="0" i="0">
                <a:solidFill>
                  <a:srgbClr val="334155"/>
                </a:solidFill>
                <a:latin typeface="Arial"/>
              </a:rPr>
              <a:t>כל השאר בסדנה הזו -- הפקודות של Spec Kit, Claude Code, Codex -- עובד אותו דבר בלי קשר לעורך.</a:t>
            </a:r>
          </a:p>
          <a:p>
            <a:pPr algn="r" rtl="1">
              <a:spcAft>
                <a:spcPts val="1200"/>
              </a:spcAft>
            </a:pPr>
            <a:r>
              <a:rPr sz="2100" b="0" i="0">
                <a:solidFill>
                  <a:srgbClr val="334155"/>
                </a:solidFill>
                <a:latin typeface="Arial"/>
              </a:rPr>
              <a:t>אם משתמשים ב-JetBrains/CLion במקום: אותו רפוזיטורי, אותם קבצים, אותן פקודות Spec Kit, רק טרמינל שונה וסט קיצורי מקלדת שונה.</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r" rtl="1"/>
            <a:r>
              <a:rPr sz="3000" b="1">
                <a:solidFill>
                  <a:srgbClr val="0F172A"/>
                </a:solidFill>
                <a:latin typeface="Arial"/>
              </a:rPr>
              <a:t>פרומפט ישיר מול Spec Kit</a:t>
            </a:r>
          </a:p>
        </p:txBody>
      </p:sp>
      <p:sp>
        <p:nvSpPr>
          <p:cNvPr id="3" name="TextBox 2"/>
          <p:cNvSpPr txBox="1"/>
          <p:nvPr/>
        </p:nvSpPr>
        <p:spPr>
          <a:xfrm>
            <a:off x="731520" y="960120"/>
            <a:ext cx="10728655" cy="457200"/>
          </a:xfrm>
          <a:prstGeom prst="rect">
            <a:avLst/>
          </a:prstGeom>
          <a:noFill/>
        </p:spPr>
        <p:txBody>
          <a:bodyPr wrap="square">
            <a:spAutoFit/>
          </a:bodyPr>
          <a:lstStyle/>
          <a:p>
            <a:pPr algn="r" rtl="1"/>
            <a:r>
              <a:rPr sz="1800" i="1">
                <a:solidFill>
                  <a:srgbClr val="334155"/>
                </a:solidFill>
                <a:latin typeface="Arial"/>
              </a:rPr>
              <a:t>אותו סוכן בבסיס, אותה חומרת יעד -- מה שמשתנה הוא איפה כל אחד מהדברים הבאים חי:</a:t>
            </a:r>
          </a:p>
        </p:txBody>
      </p:sp>
      <p:sp>
        <p:nvSpPr>
          <p:cNvPr id="4" name="TextBox 3"/>
          <p:cNvSpPr txBox="1"/>
          <p:nvPr/>
        </p:nvSpPr>
        <p:spPr>
          <a:xfrm>
            <a:off x="731520" y="1554480"/>
            <a:ext cx="10728655" cy="640080"/>
          </a:xfrm>
          <a:prstGeom prst="rect">
            <a:avLst/>
          </a:prstGeom>
          <a:noFill/>
        </p:spPr>
        <p:txBody>
          <a:bodyPr wrap="none">
            <a:spAutoFit/>
          </a:bodyPr>
          <a:lstStyle/>
          <a:p>
            <a:pPr algn="r" rtl="1"/>
            <a:r>
              <a:rPr b="1" sz="2000">
                <a:solidFill>
                  <a:srgbClr val="2563EB"/>
                </a:solidFill>
                <a:latin typeface="Courier New"/>
              </a:rPr>
              <a:t>Requirements</a:t>
            </a:r>
            <a:r>
              <a:rPr sz="2000">
                <a:solidFill>
                  <a:srgbClr val="334155"/>
                </a:solidFill>
                <a:latin typeface="Arial"/>
              </a:rPr>
              <a:t>   —   בשיחת צ'אט   →   כקבצים ברפוזיטורי</a:t>
            </a:r>
          </a:p>
        </p:txBody>
      </p:sp>
      <p:sp>
        <p:nvSpPr>
          <p:cNvPr id="5" name="TextBox 4"/>
          <p:cNvSpPr txBox="1"/>
          <p:nvPr/>
        </p:nvSpPr>
        <p:spPr>
          <a:xfrm>
            <a:off x="731520" y="2331720"/>
            <a:ext cx="10728655" cy="640080"/>
          </a:xfrm>
          <a:prstGeom prst="rect">
            <a:avLst/>
          </a:prstGeom>
          <a:noFill/>
        </p:spPr>
        <p:txBody>
          <a:bodyPr wrap="none">
            <a:spAutoFit/>
          </a:bodyPr>
          <a:lstStyle/>
          <a:p>
            <a:pPr algn="r" rtl="1"/>
            <a:r>
              <a:rPr b="1" sz="2000">
                <a:solidFill>
                  <a:srgbClr val="2563EB"/>
                </a:solidFill>
                <a:latin typeface="Courier New"/>
              </a:rPr>
              <a:t>Clarifications</a:t>
            </a:r>
            <a:r>
              <a:rPr sz="2000">
                <a:solidFill>
                  <a:srgbClr val="334155"/>
                </a:solidFill>
                <a:latin typeface="Arial"/>
              </a:rPr>
              <a:t>   —   הסוכן מניח לבד   →   שלב הבהרה מפורש</a:t>
            </a:r>
          </a:p>
        </p:txBody>
      </p:sp>
      <p:sp>
        <p:nvSpPr>
          <p:cNvPr id="6" name="TextBox 5"/>
          <p:cNvSpPr txBox="1"/>
          <p:nvPr/>
        </p:nvSpPr>
        <p:spPr>
          <a:xfrm>
            <a:off x="731520" y="3108960"/>
            <a:ext cx="10728655" cy="640080"/>
          </a:xfrm>
          <a:prstGeom prst="rect">
            <a:avLst/>
          </a:prstGeom>
          <a:noFill/>
        </p:spPr>
        <p:txBody>
          <a:bodyPr wrap="none">
            <a:spAutoFit/>
          </a:bodyPr>
          <a:lstStyle/>
          <a:p>
            <a:pPr algn="r" rtl="1"/>
            <a:r>
              <a:rPr b="1" sz="2000">
                <a:solidFill>
                  <a:srgbClr val="2563EB"/>
                </a:solidFill>
                <a:latin typeface="Courier New"/>
              </a:rPr>
              <a:t>Traceability</a:t>
            </a:r>
            <a:r>
              <a:rPr sz="2000">
                <a:solidFill>
                  <a:srgbClr val="334155"/>
                </a:solidFill>
                <a:latin typeface="Arial"/>
              </a:rPr>
              <a:t>   —   נמוכה   →   גבוהה</a:t>
            </a:r>
          </a:p>
        </p:txBody>
      </p:sp>
      <p:sp>
        <p:nvSpPr>
          <p:cNvPr id="7" name="TextBox 6"/>
          <p:cNvSpPr txBox="1"/>
          <p:nvPr/>
        </p:nvSpPr>
        <p:spPr>
          <a:xfrm>
            <a:off x="731520" y="3886200"/>
            <a:ext cx="10728655" cy="640080"/>
          </a:xfrm>
          <a:prstGeom prst="rect">
            <a:avLst/>
          </a:prstGeom>
          <a:noFill/>
        </p:spPr>
        <p:txBody>
          <a:bodyPr wrap="none">
            <a:spAutoFit/>
          </a:bodyPr>
          <a:lstStyle/>
          <a:p>
            <a:pPr algn="r" rtl="1"/>
            <a:r>
              <a:rPr b="1" sz="2000">
                <a:solidFill>
                  <a:srgbClr val="2563EB"/>
                </a:solidFill>
                <a:latin typeface="Courier New"/>
              </a:rPr>
              <a:t>Repeatability</a:t>
            </a:r>
            <a:r>
              <a:rPr sz="2000">
                <a:solidFill>
                  <a:srgbClr val="334155"/>
                </a:solidFill>
                <a:latin typeface="Arial"/>
              </a:rPr>
              <a:t>   —   נמוכה-בינונית   →   גבוהה</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r" rtl="1"/>
            <a:r>
              <a:rPr sz="3000" b="1">
                <a:solidFill>
                  <a:srgbClr val="0F172A"/>
                </a:solidFill>
                <a:latin typeface="Arial"/>
              </a:rPr>
              <a:t>ולמה לא רק "עוד framework"?</a:t>
            </a:r>
          </a:p>
        </p:txBody>
      </p:sp>
      <p:sp>
        <p:nvSpPr>
          <p:cNvPr id="3" name="TextBox 2"/>
          <p:cNvSpPr txBox="1"/>
          <p:nvPr/>
        </p:nvSpPr>
        <p:spPr>
          <a:xfrm>
            <a:off x="548640" y="1280160"/>
            <a:ext cx="11094415" cy="4206240"/>
          </a:xfrm>
          <a:prstGeom prst="rect">
            <a:avLst/>
          </a:prstGeom>
          <a:noFill/>
        </p:spPr>
        <p:txBody>
          <a:bodyPr wrap="square">
            <a:spAutoFit/>
          </a:bodyPr>
          <a:lstStyle/>
          <a:p>
            <a:pPr algn="r" rtl="1">
              <a:spcAft>
                <a:spcPts val="1200"/>
              </a:spcAft>
            </a:pPr>
            <a:r>
              <a:rPr sz="1900" b="0" i="0">
                <a:solidFill>
                  <a:srgbClr val="334155"/>
                </a:solidFill>
                <a:latin typeface="Arial"/>
              </a:rPr>
              <a:t>Spec Kit הוא לא הכלי היחיד בתחום הזה -- שווה לדעת שזו נקודה אחת על ספקטרום, לא האופציה היחידה.</a:t>
            </a:r>
          </a:p>
          <a:p>
            <a:pPr algn="r" rtl="1">
              <a:spcAft>
                <a:spcPts val="1200"/>
              </a:spcAft>
            </a:pPr>
            <a:r>
              <a:rPr sz="1900" b="1" i="0">
                <a:solidFill>
                  <a:srgbClr val="2563EB"/>
                </a:solidFill>
                <a:latin typeface="Arial"/>
              </a:rPr>
              <a:t>OpenSpec</a:t>
            </a:r>
          </a:p>
          <a:p>
            <a:pPr algn="r" rtl="1">
              <a:spcAft>
                <a:spcPts val="1200"/>
              </a:spcAft>
            </a:pPr>
            <a:r>
              <a:rPr sz="1900" b="0" i="0">
                <a:solidFill>
                  <a:srgbClr val="334155"/>
                </a:solidFill>
                <a:latin typeface="Arial"/>
              </a:rPr>
              <a:t>מכסה טריטוריה דומה -- לכתוב מפרט לפני קוד -- עם תבנית ומוסכמות פקודות משלו.</a:t>
            </a:r>
          </a:p>
          <a:p>
            <a:pPr algn="r" rtl="1">
              <a:spcAft>
                <a:spcPts val="1200"/>
              </a:spcAft>
            </a:pPr>
            <a:r>
              <a:rPr sz="1900" b="1" i="0">
                <a:solidFill>
                  <a:srgbClr val="D97706"/>
                </a:solidFill>
                <a:latin typeface="Arial"/>
              </a:rPr>
              <a:t>BMAD (Breakthrough Method for Agile AI-Driven Development)</a:t>
            </a:r>
          </a:p>
          <a:p>
            <a:pPr algn="r" rtl="1">
              <a:spcAft>
                <a:spcPts val="1200"/>
              </a:spcAft>
            </a:pPr>
            <a:r>
              <a:rPr sz="1900" b="0" i="0">
                <a:solidFill>
                  <a:srgbClr val="334155"/>
                </a:solidFill>
                <a:latin typeface="Arial"/>
              </a:rPr>
              <a:t>הולך צעד נוסף: מספר תפקידי AI מוגדרים (אנליסט, ארכיטקט, מפתח, QA) שמעבירים עבודה זה לזה, מה שמוסיף מבנה אמיתי אבל גם overhead אמיתי לפרויקט קטן.</a:t>
            </a:r>
          </a:p>
          <a:p>
            <a:pPr algn="r" rtl="1">
              <a:spcAft>
                <a:spcPts val="1200"/>
              </a:spcAft>
            </a:pPr>
            <a:r>
              <a:rPr sz="1900" b="1" i="0">
                <a:solidFill>
                  <a:srgbClr val="334155"/>
                </a:solidFill>
                <a:latin typeface="Arial"/>
              </a:rPr>
              <a:t>Spec Kit יושב בכוונה באמצע: יותר מבנה מפרומפט חשוף, הרבה פחות טקס מ-framework מרובה-תפקידים -- וזו הסיבה שהוא מתאים לדוגמת קושחה משובצת קטנה כמו זו.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r" rtl="1"/>
            <a:r>
              <a:rPr sz="3000" b="1">
                <a:solidFill>
                  <a:srgbClr val="0F172A"/>
                </a:solidFill>
                <a:latin typeface="Arial"/>
              </a:rPr>
              <a:t>החומרה, מאומתת</a:t>
            </a:r>
          </a:p>
        </p:txBody>
      </p:sp>
      <p:sp>
        <p:nvSpPr>
          <p:cNvPr id="3" name="TextBox 2"/>
          <p:cNvSpPr txBox="1"/>
          <p:nvPr/>
        </p:nvSpPr>
        <p:spPr>
          <a:xfrm>
            <a:off x="548640" y="1280160"/>
            <a:ext cx="11094415" cy="4206240"/>
          </a:xfrm>
          <a:prstGeom prst="rect">
            <a:avLst/>
          </a:prstGeom>
          <a:noFill/>
        </p:spPr>
        <p:txBody>
          <a:bodyPr wrap="square">
            <a:spAutoFit/>
          </a:bodyPr>
          <a:lstStyle/>
          <a:p>
            <a:pPr algn="r" rtl="1">
              <a:spcAft>
                <a:spcPts val="1200"/>
              </a:spcAft>
            </a:pPr>
            <a:r>
              <a:rPr sz="2000" b="0" i="0">
                <a:solidFill>
                  <a:srgbClr val="334155"/>
                </a:solidFill>
                <a:latin typeface="Arial"/>
              </a:rPr>
              <a:t>הלוח שאנחנו בונים עבורו בפועל: Heltec WiFi Kit V3, שהוא מיקרו-בקר ESP32-S3 עם מסך OLED קטן מובנה, ועוד חיישן BME280 חיצוני (טמפרטורה/לחות/לחץ אוויר) מחווט אליו ב-I2C.</a:t>
            </a:r>
          </a:p>
          <a:p>
            <a:pPr algn="r" rtl="1">
              <a:spcAft>
                <a:spcPts val="1200"/>
              </a:spcAft>
            </a:pPr>
            <a:r>
              <a:rPr sz="2000" b="1" i="0">
                <a:solidFill>
                  <a:srgbClr val="B91C1C"/>
                </a:solidFill>
                <a:latin typeface="Arial"/>
              </a:rPr>
              <a:t>ללוח אין חיישן סביבתי מובנה -- כך ש"איזה חיישן" משקף 3 מעולם לא היה פרט טכני, אלא החלטת מוצר אמיתית שמישהו היה חייב לקבל לפני שהקוד יכול היה להיות נכון.</a:t>
            </a:r>
          </a:p>
          <a:p>
            <a:pPr algn="r" rtl="1">
              <a:spcAft>
                <a:spcPts val="1200"/>
              </a:spcAft>
            </a:pPr>
            <a:r>
              <a:rPr sz="2000" b="0" i="0">
                <a:solidFill>
                  <a:srgbClr val="334155"/>
                </a:solidFill>
                <a:latin typeface="Arial"/>
              </a:rPr>
              <a:t>פרט טכני מפתיע אחד שקל לטעות בו: על הלוח הספציפי הזה, פיני ה-I2C של המסך המובנה הם GPIO 17/18, לא פיני ה-I2C המקובלים של ESP32 (21/22) -- לטעות בזה גורם למסך להישאר ריק לגמרי בלי שום הודעת שגיאה.</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r" rtl="1"/>
            <a:r>
              <a:rPr sz="3000" b="1">
                <a:solidFill>
                  <a:srgbClr val="0F172A"/>
                </a:solidFill>
                <a:latin typeface="Arial"/>
              </a:rPr>
              <a:t>Stage A: פרומפט בלבד</a:t>
            </a:r>
          </a:p>
        </p:txBody>
      </p:sp>
      <p:sp>
        <p:nvSpPr>
          <p:cNvPr id="3" name="TextBox 2"/>
          <p:cNvSpPr txBox="1"/>
          <p:nvPr/>
        </p:nvSpPr>
        <p:spPr>
          <a:xfrm>
            <a:off x="548640" y="1280160"/>
            <a:ext cx="11094415" cy="4206240"/>
          </a:xfrm>
          <a:prstGeom prst="rect">
            <a:avLst/>
          </a:prstGeom>
          <a:noFill/>
        </p:spPr>
        <p:txBody>
          <a:bodyPr wrap="square">
            <a:spAutoFit/>
          </a:bodyPr>
          <a:lstStyle/>
          <a:p>
            <a:pPr algn="r" rtl="1">
              <a:spcAft>
                <a:spcPts val="1200"/>
              </a:spcAft>
            </a:pPr>
            <a:r>
              <a:rPr sz="2200" b="1" i="0">
                <a:solidFill>
                  <a:srgbClr val="2563EB"/>
                </a:solidFill>
                <a:latin typeface="Arial"/>
              </a:rPr>
              <a:t>המסר של ההשוואה הזו: הנחה משתמעת מול החלטה מפורשת -- לא "קוד גרוע מול קוד טוב".</a:t>
            </a:r>
          </a:p>
          <a:p>
            <a:pPr algn="r" rtl="1">
              <a:spcAft>
                <a:spcPts val="1200"/>
              </a:spcAft>
            </a:pPr>
            <a:r>
              <a:rPr sz="1900" b="0" i="0">
                <a:solidFill>
                  <a:srgbClr val="334155"/>
                </a:solidFill>
                <a:latin typeface="Arial"/>
              </a:rPr>
              <a:t>כדי לשמור על ההשוואה הוגנת, חיווט החומרה (פיני I2C, רצף הפעלת Vext) נכון בשתי הגרסאות -- גם בגרסת הפרומפט-בלבד וגם בגרסה המונחית-מפרט; טעויות חיווט הן לא הסיפור כאן.</a:t>
            </a:r>
          </a:p>
          <a:p>
            <a:pPr algn="r" rtl="1">
              <a:spcAft>
                <a:spcPts val="1200"/>
              </a:spcAft>
            </a:pPr>
            <a:r>
              <a:rPr sz="1900" b="0" i="0">
                <a:solidFill>
                  <a:srgbClr val="334155"/>
                </a:solidFill>
                <a:latin typeface="Arial"/>
              </a:rPr>
              <a:t>מה שבאמת שונה זה כל מה שהפרומפט המקורי מעולם לא פירט: איזה חיישן בדיוק להשתמש, מה הסף המספרי המדויק, והאם האזהרה צריכה רצועת סבילות (היסטרזיס) סביב הסף הזה.</a:t>
            </a:r>
          </a:p>
          <a:p>
            <a:pPr algn="r" rtl="1">
              <a:spcAft>
                <a:spcPts val="1200"/>
              </a:spcAft>
            </a:pPr>
            <a:r>
              <a:rPr sz="1900" b="0" i="1">
                <a:solidFill>
                  <a:srgbClr val="334155"/>
                </a:solidFill>
                <a:latin typeface="Arial"/>
              </a:rPr>
              <a:t>הדוגמה הכי ברורה: לגרסת הפרומפט-בלבד אין בכלל היסטרזיס. זה לא באג בתכנות -- הקוד עושה בדיוק מה שקריאה סבירה של הפרומפט מרמזת. זו התוצאה הישירה של דרישה שפשוט מעולם לא נוסחה.</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r" rtl="1"/>
            <a:r>
              <a:rPr sz="3000" b="1">
                <a:solidFill>
                  <a:srgbClr val="0F172A"/>
                </a:solidFill>
                <a:latin typeface="Arial"/>
              </a:rPr>
              <a:t>Stage B-C: Specify + Clarify</a:t>
            </a:r>
          </a:p>
        </p:txBody>
      </p:sp>
      <p:sp>
        <p:nvSpPr>
          <p:cNvPr id="3" name="TextBox 2"/>
          <p:cNvSpPr txBox="1"/>
          <p:nvPr/>
        </p:nvSpPr>
        <p:spPr>
          <a:xfrm>
            <a:off x="548640" y="1097280"/>
            <a:ext cx="11094415" cy="1371600"/>
          </a:xfrm>
          <a:prstGeom prst="rect">
            <a:avLst/>
          </a:prstGeom>
          <a:noFill/>
        </p:spPr>
        <p:txBody>
          <a:bodyPr wrap="square">
            <a:spAutoFit/>
          </a:bodyPr>
          <a:lstStyle/>
          <a:p>
            <a:pPr algn="r" rtl="1">
              <a:spcAft>
                <a:spcPts val="1200"/>
              </a:spcAft>
            </a:pPr>
            <a:r>
              <a:rPr sz="1900" b="0" i="0">
                <a:solidFill>
                  <a:srgbClr val="334155"/>
                </a:solidFill>
                <a:latin typeface="Arial"/>
              </a:rPr>
              <a:t>specify כותב מה המוצר אמור לעשות, בשפה פשוטה, בלי לגעת עדיין בקוד -- למעשה טיוטה ראשונה של spec.md.</a:t>
            </a:r>
          </a:p>
          <a:p>
            <a:pPr algn="r" rtl="1">
              <a:spcAft>
                <a:spcPts val="1200"/>
              </a:spcAft>
            </a:pPr>
            <a:r>
              <a:rPr sz="1900" b="0" i="0">
                <a:solidFill>
                  <a:srgbClr val="334155"/>
                </a:solidFill>
                <a:latin typeface="Arial"/>
              </a:rPr>
              <a:t>clarify לאחר מכן שואל את האדם שאלות ממוקדות בדיוק על הפערים שראינו בשקף 3, מקליט כל תשובה ישירות לתוך המפרט. למטה התמליל האמיתי:</a:t>
            </a:r>
          </a:p>
        </p:txBody>
      </p:sp>
      <p:pic>
        <p:nvPicPr>
          <p:cNvPr id="4" name="Picture 3" descr="code-spec-clarifications.png"/>
          <p:cNvPicPr>
            <a:picLocks noChangeAspect="1"/>
          </p:cNvPicPr>
          <p:nvPr/>
        </p:nvPicPr>
        <p:blipFill>
          <a:blip r:embed="rId2"/>
          <a:stretch>
            <a:fillRect/>
          </a:stretch>
        </p:blipFill>
        <p:spPr>
          <a:xfrm>
            <a:off x="822960" y="2788920"/>
            <a:ext cx="10058400" cy="2899186"/>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r" rtl="1"/>
            <a:r>
              <a:rPr sz="3000" b="1">
                <a:solidFill>
                  <a:srgbClr val="0F172A"/>
                </a:solidFill>
                <a:latin typeface="Arial"/>
              </a:rPr>
              <a:t>היסטרזיס: הדוגמה הכי ברורה</a:t>
            </a:r>
          </a:p>
        </p:txBody>
      </p:sp>
      <p:pic>
        <p:nvPicPr>
          <p:cNvPr id="3" name="Picture 2" descr="diagram-hysteresis.png"/>
          <p:cNvPicPr>
            <a:picLocks noChangeAspect="1"/>
          </p:cNvPicPr>
          <p:nvPr/>
        </p:nvPicPr>
        <p:blipFill>
          <a:blip r:embed="rId2"/>
          <a:stretch>
            <a:fillRect/>
          </a:stretch>
        </p:blipFill>
        <p:spPr>
          <a:xfrm>
            <a:off x="548640" y="1188720"/>
            <a:ext cx="11094415" cy="5269847"/>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r" rtl="1"/>
            <a:r>
              <a:rPr sz="3000" b="1">
                <a:solidFill>
                  <a:srgbClr val="0F172A"/>
                </a:solidFill>
                <a:latin typeface="Arial"/>
              </a:rPr>
              <a:t>Stage D-E: Plan + Tasks</a:t>
            </a:r>
          </a:p>
        </p:txBody>
      </p:sp>
      <p:pic>
        <p:nvPicPr>
          <p:cNvPr id="3" name="Picture 2" descr="diagram-architecture.png"/>
          <p:cNvPicPr>
            <a:picLocks noChangeAspect="1"/>
          </p:cNvPicPr>
          <p:nvPr/>
        </p:nvPicPr>
        <p:blipFill>
          <a:blip r:embed="rId2"/>
          <a:stretch>
            <a:fillRect/>
          </a:stretch>
        </p:blipFill>
        <p:spPr>
          <a:xfrm>
            <a:off x="548640" y="1371600"/>
            <a:ext cx="11094415" cy="3944681"/>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r" rtl="1"/>
            <a:r>
              <a:rPr sz="2800" b="1">
                <a:solidFill>
                  <a:srgbClr val="0F172A"/>
                </a:solidFill>
                <a:latin typeface="Arial"/>
              </a:rPr>
              <a:t>⭐ Stage F: Analyze מוצא סתירה אמיתית</a:t>
            </a:r>
          </a:p>
        </p:txBody>
      </p:sp>
      <p:pic>
        <p:nvPicPr>
          <p:cNvPr id="3" name="Picture 2" descr="diagram-analyze-catch.png"/>
          <p:cNvPicPr>
            <a:picLocks noChangeAspect="1"/>
          </p:cNvPicPr>
          <p:nvPr/>
        </p:nvPicPr>
        <p:blipFill>
          <a:blip r:embed="rId2"/>
          <a:stretch>
            <a:fillRect/>
          </a:stretch>
        </p:blipFill>
        <p:spPr>
          <a:xfrm>
            <a:off x="2377440" y="1051560"/>
            <a:ext cx="7017283" cy="557784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2011680"/>
            <a:ext cx="10362895" cy="2377440"/>
          </a:xfrm>
          <a:prstGeom prst="rect">
            <a:avLst/>
          </a:prstGeom>
          <a:noFill/>
        </p:spPr>
        <p:txBody>
          <a:bodyPr wrap="square">
            <a:spAutoFit/>
          </a:bodyPr>
          <a:lstStyle/>
          <a:p>
            <a:pPr algn="ctr" rtl="1"/>
            <a:r>
              <a:rPr sz="2800" b="1">
                <a:solidFill>
                  <a:srgbClr val="FFFFFF"/>
                </a:solidFill>
                <a:latin typeface="Arial"/>
              </a:rPr>
              <a:t>/speckit-analyze לא מצא בעיית תחביר ולא באג בקוד.</a:t>
            </a:r>
          </a:p>
          <a:p>
            <a:pPr algn="ctr" rtl="1"/>
            <a:r>
              <a:rPr sz="2800" b="1">
                <a:solidFill>
                  <a:srgbClr val="FCD34D"/>
                </a:solidFill>
                <a:latin typeface="Arial"/>
              </a:rPr>
              <a:t>הוא מצא שהדרישות שלנו עצמן סתרו זו את זו -- לפני שנכתבה שורת קוד אחת.</a:t>
            </a:r>
          </a:p>
        </p:txBody>
      </p:sp>
      <p:pic>
        <p:nvPicPr>
          <p:cNvPr id="3" name="Picture 2" descr="code-analyze-diff.png"/>
          <p:cNvPicPr>
            <a:picLocks noChangeAspect="1"/>
          </p:cNvPicPr>
          <p:nvPr/>
        </p:nvPicPr>
        <p:blipFill>
          <a:blip r:embed="rId2"/>
          <a:stretch>
            <a:fillRect/>
          </a:stretch>
        </p:blipFill>
        <p:spPr>
          <a:xfrm>
            <a:off x="1371600" y="4114800"/>
            <a:ext cx="9418320" cy="2526326"/>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r" rtl="1"/>
            <a:r>
              <a:rPr sz="3000" b="1">
                <a:solidFill>
                  <a:srgbClr val="0F172A"/>
                </a:solidFill>
                <a:latin typeface="Arial"/>
              </a:rPr>
              <a:t>Stage G: Implement</a:t>
            </a:r>
          </a:p>
        </p:txBody>
      </p:sp>
      <p:pic>
        <p:nvPicPr>
          <p:cNvPr id="3" name="Picture 2" descr="code-monitor-logic.png"/>
          <p:cNvPicPr>
            <a:picLocks noChangeAspect="1"/>
          </p:cNvPicPr>
          <p:nvPr/>
        </p:nvPicPr>
        <p:blipFill>
          <a:blip r:embed="rId2"/>
          <a:stretch>
            <a:fillRect/>
          </a:stretch>
        </p:blipFill>
        <p:spPr>
          <a:xfrm>
            <a:off x="822960" y="1143000"/>
            <a:ext cx="9875520" cy="3636515"/>
          </a:xfrm>
          <a:prstGeom prst="rect">
            <a:avLst/>
          </a:prstGeom>
        </p:spPr>
      </p:pic>
      <p:pic>
        <p:nvPicPr>
          <p:cNvPr id="4" name="Picture 3" descr="terminal-pio-test.png"/>
          <p:cNvPicPr>
            <a:picLocks noChangeAspect="1"/>
          </p:cNvPicPr>
          <p:nvPr/>
        </p:nvPicPr>
        <p:blipFill>
          <a:blip r:embed="rId3"/>
          <a:stretch>
            <a:fillRect/>
          </a:stretch>
        </p:blipFill>
        <p:spPr>
          <a:xfrm>
            <a:off x="822960" y="4709160"/>
            <a:ext cx="4206240" cy="1556309"/>
          </a:xfrm>
          <a:prstGeom prst="rect">
            <a:avLst/>
          </a:prstGeom>
        </p:spPr>
      </p:pic>
      <p:sp>
        <p:nvSpPr>
          <p:cNvPr id="5" name="TextBox 4"/>
          <p:cNvSpPr txBox="1"/>
          <p:nvPr/>
        </p:nvSpPr>
        <p:spPr>
          <a:xfrm>
            <a:off x="5303520" y="4892040"/>
            <a:ext cx="6035040" cy="1645920"/>
          </a:xfrm>
          <a:prstGeom prst="rect">
            <a:avLst/>
          </a:prstGeom>
          <a:noFill/>
        </p:spPr>
        <p:txBody>
          <a:bodyPr wrap="square" anchor="ctr">
            <a:spAutoFit/>
          </a:bodyPr>
          <a:lstStyle/>
          <a:p>
            <a:pPr algn="r" rtl="1"/>
            <a:r>
              <a:rPr sz="2000" b="1">
                <a:solidFill>
                  <a:srgbClr val="15803D"/>
                </a:solidFill>
                <a:latin typeface="Arial"/>
              </a:rPr>
              <a:t>monitor_logic נבדק לגמרי בלי חומרה</a:t>
            </a:r>
          </a:p>
          <a:p>
            <a:pPr algn="r" rtl="1"/>
            <a:r>
              <a:rPr sz="1800">
                <a:solidFill>
                  <a:srgbClr val="15803D"/>
                </a:solidFill>
                <a:latin typeface="Courier New"/>
              </a:rPr>
              <a:t>(pio test -e native, 11/11 עברו)</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p:cNvSpPr/>
          <p:nvPr/>
        </p:nvSpPr>
        <p:spPr>
          <a:xfrm>
            <a:off x="457200" y="5989320"/>
            <a:ext cx="11277295" cy="640080"/>
          </a:xfrm>
          <a:prstGeom prst="rect">
            <a:avLst/>
          </a:prstGeom>
          <a:solidFill>
            <a:srgbClr val="FEF3C7"/>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457200" y="320040"/>
            <a:ext cx="11277295" cy="822960"/>
          </a:xfrm>
          <a:prstGeom prst="rect">
            <a:avLst/>
          </a:prstGeom>
          <a:noFill/>
        </p:spPr>
        <p:txBody>
          <a:bodyPr wrap="square">
            <a:spAutoFit/>
          </a:bodyPr>
          <a:lstStyle/>
          <a:p>
            <a:pPr algn="r" rtl="1"/>
            <a:r>
              <a:rPr sz="3000" b="1">
                <a:solidFill>
                  <a:srgbClr val="0F172A"/>
                </a:solidFill>
                <a:latin typeface="Arial"/>
              </a:rPr>
              <a:t>הדגמה חיה</a:t>
            </a:r>
          </a:p>
        </p:txBody>
      </p:sp>
      <p:sp>
        <p:nvSpPr>
          <p:cNvPr id="3" name="TextBox 2"/>
          <p:cNvSpPr txBox="1"/>
          <p:nvPr/>
        </p:nvSpPr>
        <p:spPr>
          <a:xfrm>
            <a:off x="548640" y="1371600"/>
            <a:ext cx="11094415" cy="4206240"/>
          </a:xfrm>
          <a:prstGeom prst="rect">
            <a:avLst/>
          </a:prstGeom>
          <a:noFill/>
        </p:spPr>
        <p:txBody>
          <a:bodyPr wrap="square">
            <a:spAutoFit/>
          </a:bodyPr>
          <a:lstStyle/>
          <a:p>
            <a:pPr algn="r" rtl="1">
              <a:spcAft>
                <a:spcPts val="1200"/>
              </a:spcAft>
            </a:pPr>
            <a:r>
              <a:rPr sz="2000" b="0" i="0">
                <a:solidFill>
                  <a:srgbClr val="334155"/>
                </a:solidFill>
                <a:latin typeface="Arial"/>
              </a:rPr>
              <a:t>טמפרטורה רגילה → OK</a:t>
            </a:r>
          </a:p>
          <a:p>
            <a:pPr algn="r" rtl="1">
              <a:spcAft>
                <a:spcPts val="1200"/>
              </a:spcAft>
            </a:pPr>
            <a:r>
              <a:rPr sz="2000" b="0" i="0">
                <a:solidFill>
                  <a:srgbClr val="334155"/>
                </a:solidFill>
                <a:latin typeface="Arial"/>
              </a:rPr>
              <a:t>חימום מעל 30°C → WARNING</a:t>
            </a:r>
          </a:p>
          <a:p>
            <a:pPr algn="r" rtl="1">
              <a:spcAft>
                <a:spcPts val="1200"/>
              </a:spcAft>
            </a:pPr>
            <a:r>
              <a:rPr sz="2000" b="1" i="0">
                <a:solidFill>
                  <a:srgbClr val="B91C1C"/>
                </a:solidFill>
                <a:latin typeface="Arial"/>
              </a:rPr>
              <a:t>קירור חלקי (28-30°C) ← נשאר WARNING (הנקודה החשובה ביותר)</a:t>
            </a:r>
          </a:p>
          <a:p>
            <a:pPr algn="r" rtl="1">
              <a:spcAft>
                <a:spcPts val="1200"/>
              </a:spcAft>
            </a:pPr>
            <a:r>
              <a:rPr sz="2000" b="0" i="0">
                <a:solidFill>
                  <a:srgbClr val="334155"/>
                </a:solidFill>
                <a:latin typeface="Arial"/>
              </a:rPr>
              <a:t>קירור מתחת ל-28°C → חזרה ל-OK</a:t>
            </a:r>
          </a:p>
          <a:p>
            <a:pPr algn="r" rtl="1">
              <a:spcAft>
                <a:spcPts val="1200"/>
              </a:spcAft>
            </a:pPr>
            <a:r>
              <a:rPr sz="2000" b="0" i="0">
                <a:solidFill>
                  <a:srgbClr val="334155"/>
                </a:solidFill>
                <a:latin typeface="Arial"/>
              </a:rPr>
              <a:t>אם יש זמן: ניתוק החיישן → SENSOR_ERROR</a:t>
            </a:r>
          </a:p>
        </p:txBody>
      </p:sp>
      <p:sp>
        <p:nvSpPr>
          <p:cNvPr id="4" name="Rectangle 3"/>
          <p:cNvSpPr/>
          <p:nvPr/>
        </p:nvSpPr>
        <p:spPr>
          <a:xfrm>
            <a:off x="731520" y="4206240"/>
            <a:ext cx="10728655" cy="1554480"/>
          </a:xfrm>
          <a:prstGeom prst="rect">
            <a:avLst/>
          </a:prstGeom>
          <a:solidFill>
            <a:srgbClr val="F1F5F9"/>
          </a:solidFill>
          <a:ln w="19050">
            <a:solidFill>
              <a:srgbClr val="94A3B8"/>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rtl="1"/>
            <a:r>
              <a:rPr sz="1600" i="1" b="1">
                <a:solidFill>
                  <a:srgbClr val="64748B"/>
                </a:solidFill>
              </a:rPr>
              <a:t>📷 Serial output + OLED photo</a:t>
            </a:r>
          </a:p>
          <a:p>
            <a:pPr algn="ctr" rtl="1"/>
            <a:r>
              <a:rPr sz="1300" i="1">
                <a:solidFill>
                  <a:srgbClr val="64748B"/>
                </a:solidFill>
              </a:rPr>
              <a:t>(מסך אמיתי / צילום מסך חסר -- ראו screenshot-checklist.md)</a:t>
            </a:r>
          </a:p>
        </p:txBody>
      </p:sp>
      <p:sp>
        <p:nvSpPr>
          <p:cNvPr id="5" name="TextBox 4"/>
          <p:cNvSpPr txBox="1"/>
          <p:nvPr/>
        </p:nvSpPr>
        <p:spPr>
          <a:xfrm>
            <a:off x="548640" y="6080760"/>
            <a:ext cx="11094415" cy="502920"/>
          </a:xfrm>
          <a:prstGeom prst="rect">
            <a:avLst/>
          </a:prstGeom>
          <a:noFill/>
        </p:spPr>
        <p:txBody>
          <a:bodyPr wrap="square">
            <a:spAutoFit/>
          </a:bodyPr>
          <a:lstStyle/>
          <a:p>
            <a:pPr algn="ctr" rtl="1"/>
            <a:r>
              <a:rPr sz="1600" b="1" i="1">
                <a:solidFill>
                  <a:srgbClr val="D97706"/>
                </a:solidFill>
                <a:latin typeface="Arial"/>
              </a:rPr>
              <a:t>⏳ ממתין לאימות חומרה פיזי (checkpoint 09-hardware-verified)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ectangle 4"/>
          <p:cNvSpPr/>
          <p:nvPr/>
        </p:nvSpPr>
        <p:spPr>
          <a:xfrm>
            <a:off x="457200" y="5989320"/>
            <a:ext cx="11277295" cy="640080"/>
          </a:xfrm>
          <a:prstGeom prst="rect">
            <a:avLst/>
          </a:prstGeom>
          <a:solidFill>
            <a:srgbClr val="FEF3C7"/>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457200" y="320040"/>
            <a:ext cx="11277295" cy="822960"/>
          </a:xfrm>
          <a:prstGeom prst="rect">
            <a:avLst/>
          </a:prstGeom>
          <a:noFill/>
        </p:spPr>
        <p:txBody>
          <a:bodyPr wrap="square">
            <a:spAutoFit/>
          </a:bodyPr>
          <a:lstStyle/>
          <a:p>
            <a:pPr algn="r" rtl="1"/>
            <a:r>
              <a:rPr sz="3000" b="1">
                <a:solidFill>
                  <a:srgbClr val="0F172A"/>
                </a:solidFill>
                <a:latin typeface="Arial"/>
              </a:rPr>
              <a:t>Git checkpoints</a:t>
            </a:r>
          </a:p>
        </p:txBody>
      </p:sp>
      <p:pic>
        <p:nvPicPr>
          <p:cNvPr id="3" name="Picture 2" descr="terminal-git-log.png"/>
          <p:cNvPicPr>
            <a:picLocks noChangeAspect="1"/>
          </p:cNvPicPr>
          <p:nvPr/>
        </p:nvPicPr>
        <p:blipFill>
          <a:blip r:embed="rId2"/>
          <a:stretch>
            <a:fillRect/>
          </a:stretch>
        </p:blipFill>
        <p:spPr>
          <a:xfrm>
            <a:off x="822960" y="1280160"/>
            <a:ext cx="10515600" cy="3443859"/>
          </a:xfrm>
          <a:prstGeom prst="rect">
            <a:avLst/>
          </a:prstGeom>
        </p:spPr>
      </p:pic>
      <p:sp>
        <p:nvSpPr>
          <p:cNvPr id="4" name="TextBox 3"/>
          <p:cNvSpPr txBox="1"/>
          <p:nvPr/>
        </p:nvSpPr>
        <p:spPr>
          <a:xfrm>
            <a:off x="548640" y="6080760"/>
            <a:ext cx="11094415" cy="502920"/>
          </a:xfrm>
          <a:prstGeom prst="rect">
            <a:avLst/>
          </a:prstGeom>
          <a:noFill/>
        </p:spPr>
        <p:txBody>
          <a:bodyPr wrap="square">
            <a:spAutoFit/>
          </a:bodyPr>
          <a:lstStyle/>
          <a:p>
            <a:pPr algn="ctr" rtl="1"/>
            <a:r>
              <a:rPr sz="1600" b="1" i="1">
                <a:solidFill>
                  <a:srgbClr val="D97706"/>
                </a:solidFill>
                <a:latin typeface="Arial"/>
              </a:rPr>
              <a:t>⏳ תג 09-hardware-verified עדיין לא נוצר -- ממתין לבדיקה פיזית</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r" rtl="1"/>
            <a:r>
              <a:rPr sz="3200" b="1">
                <a:solidFill>
                  <a:srgbClr val="FFFFFF"/>
                </a:solidFill>
                <a:latin typeface="Arial"/>
              </a:rPr>
              <a:t>חמש נקודות לזכור</a:t>
            </a:r>
          </a:p>
        </p:txBody>
      </p:sp>
      <p:sp>
        <p:nvSpPr>
          <p:cNvPr id="3" name="TextBox 2"/>
          <p:cNvSpPr txBox="1"/>
          <p:nvPr/>
        </p:nvSpPr>
        <p:spPr>
          <a:xfrm>
            <a:off x="548640" y="1463040"/>
            <a:ext cx="11094415" cy="4206240"/>
          </a:xfrm>
          <a:prstGeom prst="rect">
            <a:avLst/>
          </a:prstGeom>
          <a:noFill/>
        </p:spPr>
        <p:txBody>
          <a:bodyPr wrap="square">
            <a:spAutoFit/>
          </a:bodyPr>
          <a:lstStyle/>
          <a:p>
            <a:pPr algn="r" rtl="1">
              <a:spcAft>
                <a:spcPts val="1200"/>
              </a:spcAft>
            </a:pPr>
            <a:r>
              <a:rPr sz="2200" b="0" i="0">
                <a:solidFill>
                  <a:srgbClr val="FFFFFF"/>
                </a:solidFill>
                <a:latin typeface="Arial"/>
              </a:rPr>
              <a:t>•  מהירות הקידוד של ה-AI לא מבטלת את הצורך בדרישות ברורות</a:t>
            </a:r>
          </a:p>
          <a:p>
            <a:pPr algn="r" rtl="1">
              <a:spcAft>
                <a:spcPts val="1200"/>
              </a:spcAft>
            </a:pPr>
            <a:r>
              <a:rPr sz="2200" b="0" i="0">
                <a:solidFill>
                  <a:srgbClr val="FFFFFF"/>
                </a:solidFill>
                <a:latin typeface="Arial"/>
              </a:rPr>
              <a:t>•  Spec Kit נותן מסלול חוזר מרעיון למימוש</a:t>
            </a:r>
          </a:p>
          <a:p>
            <a:pPr algn="r" rtl="1">
              <a:spcAft>
                <a:spcPts val="1200"/>
              </a:spcAft>
            </a:pPr>
            <a:r>
              <a:rPr sz="2200" b="0" i="0">
                <a:solidFill>
                  <a:srgbClr val="FFFFFF"/>
                </a:solidFill>
                <a:latin typeface="Arial"/>
              </a:rPr>
              <a:t>•  Claude Code ו-Codex הם הסוכנים; Spec Kit הוא התהליך והמבנה</a:t>
            </a:r>
          </a:p>
          <a:p>
            <a:pPr algn="r" rtl="1">
              <a:spcAft>
                <a:spcPts val="1200"/>
              </a:spcAft>
            </a:pPr>
            <a:r>
              <a:rPr sz="2200" b="0" i="0">
                <a:solidFill>
                  <a:srgbClr val="FFFFFF"/>
                </a:solidFill>
                <a:latin typeface="Arial"/>
              </a:rPr>
              <a:t>•  המפרט, התוכנית והמשימות חיים ברפוזיטורי -- לא נעלמים בתוך צ'אט</a:t>
            </a:r>
          </a:p>
          <a:p>
            <a:pPr algn="r" rtl="1">
              <a:spcAft>
                <a:spcPts val="1200"/>
              </a:spcAft>
            </a:pPr>
            <a:r>
              <a:rPr sz="2200" b="1" i="0">
                <a:solidFill>
                  <a:srgbClr val="FCD34D"/>
                </a:solidFill>
                <a:latin typeface="Arial"/>
              </a:rPr>
              <a:t>•  ההוכחה הכי טובה: לא שהוא מייצר קוד, אלא שהוא מכריח לענות על שאלות לפני שנכתב הקוד הלא נכון</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r" rtl="1"/>
            <a:r>
              <a:rPr sz="3000" b="1">
                <a:solidFill>
                  <a:srgbClr val="0F172A"/>
                </a:solidFill>
                <a:latin typeface="Arial"/>
              </a:rPr>
              <a:t>קישורים ותודות</a:t>
            </a:r>
          </a:p>
        </p:txBody>
      </p:sp>
      <p:sp>
        <p:nvSpPr>
          <p:cNvPr id="3" name="TextBox 2"/>
          <p:cNvSpPr txBox="1"/>
          <p:nvPr/>
        </p:nvSpPr>
        <p:spPr>
          <a:xfrm>
            <a:off x="548640" y="1280160"/>
            <a:ext cx="11094415" cy="4206240"/>
          </a:xfrm>
          <a:prstGeom prst="rect">
            <a:avLst/>
          </a:prstGeom>
          <a:noFill/>
        </p:spPr>
        <p:txBody>
          <a:bodyPr wrap="square">
            <a:spAutoFit/>
          </a:bodyPr>
          <a:lstStyle/>
          <a:p>
            <a:pPr algn="r" rtl="1">
              <a:spcAft>
                <a:spcPts val="1200"/>
              </a:spcAft>
            </a:pPr>
            <a:r>
              <a:rPr sz="2000" b="0" i="0">
                <a:solidFill>
                  <a:srgbClr val="334155"/>
                </a:solidFill>
                <a:latin typeface="Arial"/>
              </a:rPr>
              <a:t>Spec Kit: github.com/github/spec-kit</a:t>
            </a:r>
          </a:p>
          <a:p>
            <a:pPr algn="r" rtl="1">
              <a:spcAft>
                <a:spcPts val="1200"/>
              </a:spcAft>
            </a:pPr>
            <a:r>
              <a:rPr sz="2000" b="0" i="0">
                <a:solidFill>
                  <a:srgbClr val="334155"/>
                </a:solidFill>
                <a:latin typeface="Arial"/>
              </a:rPr>
              <a:t>Spec Kit docs: github.github.io/spec-kit</a:t>
            </a:r>
          </a:p>
          <a:p>
            <a:pPr algn="r" rtl="1">
              <a:spcAft>
                <a:spcPts val="1200"/>
              </a:spcAft>
            </a:pPr>
            <a:r>
              <a:rPr sz="2000" b="0" i="0">
                <a:solidFill>
                  <a:srgbClr val="334155"/>
                </a:solidFill>
                <a:latin typeface="Arial"/>
              </a:rPr>
              <a:t>Claude Code docs: docs.claude.com/en/docs/claude-code</a:t>
            </a:r>
          </a:p>
          <a:p>
            <a:pPr algn="r" rtl="1">
              <a:spcAft>
                <a:spcPts val="1200"/>
              </a:spcAft>
            </a:pPr>
            <a:r>
              <a:rPr sz="2000" b="0" i="0">
                <a:solidFill>
                  <a:srgbClr val="334155"/>
                </a:solidFill>
                <a:latin typeface="Arial"/>
              </a:rPr>
              <a:t>Codex docs: developers.openai.com/codex</a:t>
            </a:r>
          </a:p>
          <a:p>
            <a:pPr algn="r" rtl="1">
              <a:spcAft>
                <a:spcPts val="1200"/>
              </a:spcAft>
            </a:pPr>
            <a:r>
              <a:rPr sz="2000" b="0" i="0">
                <a:solidFill>
                  <a:srgbClr val="334155"/>
                </a:solidFill>
                <a:latin typeface="Arial"/>
              </a:rPr>
              <a:t>PlatformIO: platformio.org</a:t>
            </a:r>
          </a:p>
          <a:p>
            <a:pPr algn="r" rtl="1">
              <a:spcAft>
                <a:spcPts val="1200"/>
              </a:spcAft>
            </a:pPr>
            <a:r>
              <a:rPr sz="2000" b="0" i="0">
                <a:solidFill>
                  <a:srgbClr val="334155"/>
                </a:solidFill>
                <a:latin typeface="Arial"/>
              </a:rPr>
              <a:t>Heltec WiFi Kit 32 (V3): heltec.org/project/wifi-kit32-v3</a:t>
            </a:r>
          </a:p>
          <a:p>
            <a:pPr algn="r" rtl="1">
              <a:spcAft>
                <a:spcPts val="1200"/>
              </a:spcAft>
            </a:pPr>
            <a:r>
              <a:rPr sz="2000" b="0" i="1">
                <a:solidFill>
                  <a:srgbClr val="334155"/>
                </a:solidFill>
                <a:latin typeface="Arial"/>
              </a:rPr>
              <a:t>הריפו הנלווה: (למלא לאחר פרסום)</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