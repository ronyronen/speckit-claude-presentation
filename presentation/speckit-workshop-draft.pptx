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לפתוח בשאלה לקהל: מי כבר ביקש מ-AI לכתוב קוד ישירות מפרומפט?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שאלה פתוחה לקהל -- לתת רגע לחשוב לפני שממשיכים.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אפשר להראות כאן את examples/prompt-only/naive_monitor.ino בקצרה.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זה המשפט שהקהל צריך לזכור מהסדנה כולה. לעצור רגע אחרי השקף הזה.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להתמקד בחצי העליון של הדיאגרמה כרגע. כל 'תיקון' הוא החלטת מוצר שמתקבלת אחרי שכבר יש קוד שסותר אותה.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עכשיו להתמקד בחצי התחתון. ההבדל הוא לא 'יותר בירוקרטיה' -- זה להזיז את ההחלטות למקום שבו הן זולות לקבל.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#1-2 מהצ'קליסט.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זו התוצאה האמיתית מהאתחול של הריפו הזה עצמו.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לא לצלול לתחביר הפקודות -- המטרה היא המודל המנטלי.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'Spec Kit הוא לא סוכן הקידוד. Claude Code או Codex מבצעים את העבודה. ה-IDE הוא סביבת העבודה האנושית.'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#6-7.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לא סקירת frameworks -- זו לא המטרה של הסדנה.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ויזואל: examples/prompt-only/naive_monitor.ino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זו לא בעיית תכנות. זו החלטת מוצר שהיתה חייבת להתקבל *לפני* כתיבת קוד.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#10-11 (plan.md, tasks.md) אם רוצים להראות גם את הקבצים עצמם.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שקף חשוב ביותר -- לא להעביר במהירות. זו לא דוגמה מומצאת לצורך ההרצאה -- זה קרה ממש בבניית הפרויקט הזה. אפשר להראות live: git show b91cd94 -- specs/001-heltec-monitor/spec.md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ההוכחה הכי חזקה לערך של Spec Kit בכל ההרצאה.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כל התוכן כאן תלוי בבדיקת החומרה הפיזית שטרם בוצעה.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כל שלב כבר קיים כ-tag ברפוזיטורי -- ההדגמה לא תלויה בהרצת AI חיה שעלולה להיכשל על הבמה.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ראו presentation/slide-links.md לרשימה המלאה.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>
                <a:solidFill>
                  <a:srgbClr val="FFFFFF"/>
                </a:solidFill>
                <a:latin typeface="Arial"/>
              </a:rPr>
              <a:t>מ-Prompt ועד מוצר</a:t>
            </a:r>
          </a:p>
          <a:p>
            <a:pPr algn="ctr" rtl="1"/>
            <a:r>
              <a:rPr sz="2800">
                <a:solidFill>
                  <a:srgbClr val="A5B4FC"/>
                </a:solidFill>
                <a:latin typeface="Arial"/>
              </a:rPr>
              <a:t>Spec-Driven Development עם GitHub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/>
            <a:r>
              <a:rPr sz="2000" i="1">
                <a:solidFill>
                  <a:srgbClr val="CBD5E1"/>
                </a:solidFill>
                <a:latin typeface="Arial"/>
              </a:rPr>
              <a:t>דוגמה אמיתית על Heltec WiFi Kit V3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914400" y="1554480"/>
            <a:ext cx="10362895" cy="164592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הפרומפט המעורפל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334155"/>
                </a:solidFill>
                <a:latin typeface="Courier New"/>
              </a:rPr>
              <a:t>Build an application for a Heltec WiFi Kit V3 that reads a sensor,
shows the value on the display, and shows a warning when the value is too high.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971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>
                <a:solidFill>
                  <a:srgbClr val="B91C1C"/>
                </a:solidFill>
                <a:latin typeface="Arial"/>
              </a:rPr>
              <a:t>❓ האם יש כאן מספיק מידע כדי לבנות את המוצר הנכון?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כל מה שהפרומפט לא ענה עליו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איזה חיישן?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כל כמה זמן דוגמים?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מה זה בדיוק "גבוה מדי"?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מה קורה בדיוק בסף?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מתי האזהרה נכבית?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מה קורה כשהחיישן נכשל?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מה מוצג במסך בזמן תקלה?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מה נכתב ל-Serial?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000" b="1">
                <a:solidFill>
                  <a:srgbClr val="FFFFFF"/>
                </a:solidFill>
                <a:latin typeface="Arial"/>
              </a:rPr>
              <a:t>הבעיה היא בדרך כלל לא שה-AI לא יודע לכתוב קוד.</a:t>
            </a:r>
          </a:p>
          <a:p>
            <a:pPr algn="ctr" rtl="1"/>
            <a:r>
              <a:rPr sz="3000" b="1">
                <a:solidFill>
                  <a:srgbClr val="FCD34D"/>
                </a:solidFill>
                <a:latin typeface="Arial"/>
              </a:rPr>
              <a:t>הבעיה היא שהתנהגות המוצר לא הוגדרה מספיק.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מ-Prompt ללולאה אינסופית</a:t>
            </a:r>
          </a:p>
        </p:txBody>
      </p:sp>
      <p:pic>
        <p:nvPicPr>
          <p:cNvPr id="3" name="Picture 2" descr="diagram-prompt-vs-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4736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האלטרנטיבה: תהליך מונחה-מפרט</a:t>
            </a:r>
          </a:p>
        </p:txBody>
      </p:sp>
      <p:pic>
        <p:nvPicPr>
          <p:cNvPr id="3" name="Picture 2" descr="diagram-prompt-vs-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4736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מה כל שלב תופס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400">
                <a:solidFill>
                  <a:srgbClr val="334155"/>
                </a:solidFill>
                <a:latin typeface="Arial"/>
              </a:rPr>
              <a:t>לא סיכמנו מה זה עושה    ←    </a:t>
            </a:r>
            <a:r>
              <a:rPr sz="2400" b="1">
                <a:solidFill>
                  <a:srgbClr val="2563EB"/>
                </a:solidFill>
                <a:latin typeface="Courier New"/>
              </a:rPr>
              <a:t>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400">
                <a:solidFill>
                  <a:srgbClr val="334155"/>
                </a:solidFill>
                <a:latin typeface="Arial"/>
              </a:rPr>
              <a:t>סיכמנו את המסלול הראשי, לא את הקצוות    ←    </a:t>
            </a:r>
            <a:r>
              <a:rPr sz="2400" b="1">
                <a:solidFill>
                  <a:srgbClr val="2563EB"/>
                </a:solidFill>
                <a:latin typeface="Courier New"/>
              </a:rPr>
              <a:t>Clarify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400">
                <a:solidFill>
                  <a:srgbClr val="334155"/>
                </a:solidFill>
                <a:latin typeface="Arial"/>
              </a:rPr>
              <a:t>סיכמנו מה, לא איך    ←    </a:t>
            </a:r>
            <a:r>
              <a:rPr sz="2400" b="1">
                <a:solidFill>
                  <a:srgbClr val="2563EB"/>
                </a:solidFill>
                <a:latin typeface="Courier New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2400">
                <a:solidFill>
                  <a:srgbClr val="334155"/>
                </a:solidFill>
                <a:latin typeface="Arial"/>
              </a:rPr>
              <a:t>שני מסמכים שלנו סותרים אחד את השני    ←    </a:t>
            </a:r>
            <a:r>
              <a:rPr sz="2400" b="1">
                <a:solidFill>
                  <a:srgbClr val="2563EB"/>
                </a:solidFill>
                <a:latin typeface="Courier New"/>
              </a:rPr>
              <a:t>Analyze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מה זה GitHub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0" i="0">
                <a:solidFill>
                  <a:srgbClr val="334155"/>
                </a:solidFill>
                <a:latin typeface="Arial"/>
              </a:rPr>
              <a:t>Spec Kit = כלי CLI (specify) + סט Skills/Commands לסוכן קידוד</a:t>
            </a:r>
          </a:p>
          <a:p>
            <a:pPr algn="r" rtl="1">
              <a:spcAft>
                <a:spcPts val="1200"/>
              </a:spcAft>
            </a:pPr>
            <a:r>
              <a:rPr sz="2400" b="0" i="0">
                <a:solidFill>
                  <a:srgbClr val="334155"/>
                </a:solidFill>
                <a:latin typeface="Arial"/>
              </a:rPr>
              <a:t>לא כותב קוד בעצמו -- מבנה את *התהליך* שמוביל לכתיבת הקוד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10728655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i="1" b="1">
                <a:solidFill>
                  <a:srgbClr val="64748B"/>
                </a:solidFill>
              </a:rPr>
              <a:t>📷 Spec Kit website + GitHub repo</a:t>
            </a:r>
          </a:p>
          <a:p>
            <a:pPr algn="ctr" rtl="1"/>
            <a:r>
              <a:rPr sz="1300" i="1">
                <a:solidFill>
                  <a:srgbClr val="64748B"/>
                </a:solidFill>
              </a:rPr>
              <a:t>(מסך אמיתי / צילום מסך חסר -- ראו screenshot-checklist.md)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התקנה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334155"/>
                </a:solidFill>
                <a:latin typeface="Courier New"/>
              </a:rPr>
              <a:t>uv tool install specify-cli
specify init --here --integration claude</a:t>
            </a:r>
          </a:p>
        </p:txBody>
      </p:sp>
      <p:pic>
        <p:nvPicPr>
          <p:cNvPr id="4" name="Picture 3" descr="terminal-specify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10332720" cy="40426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תהליך העבודה בשבעה שלבים</a:t>
            </a:r>
          </a:p>
        </p:txBody>
      </p:sp>
      <p:pic>
        <p:nvPicPr>
          <p:cNvPr id="3" name="Picture 2" descr="diagram-specki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94415" cy="2324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התוצר: קבצים אמיתיים ברפוזיטורי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 i="0">
                <a:solidFill>
                  <a:srgbClr val="2563EB"/>
                </a:solidFill>
                <a:latin typeface="Arial"/>
              </a:rPr>
              <a:t>specs/001-heltec-monitor/{spec,plan,tasks}.md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לא שיחת צ'אט שנעלמת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זה מה שמאפשר להחליף סוכן, לחזור אחרי חודש, ולראות בדיוק למה התקבלה כל החלטה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מי עושה מה</a:t>
            </a:r>
          </a:p>
        </p:txBody>
      </p:sp>
      <p:pic>
        <p:nvPicPr>
          <p:cNvPr id="3" name="Picture 2" descr="diagram-tool-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34887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אותו ריפו, שני סוכנים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2563EB"/>
                </a:solidFill>
                <a:latin typeface="Arial"/>
              </a:rPr>
              <a:t>Claude Code  ←  /speckit-specify   (.claude/skills/)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D97706"/>
                </a:solidFill>
                <a:latin typeface="Arial"/>
              </a:rPr>
              <a:t>Codex  ←  $speckit-specify   (.agents/skills/)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זה לא תיאוריה -- הריפו הזה מותקן עם שני האינטגרציות במקביל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10728655" cy="219456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i="1" b="1">
                <a:solidFill>
                  <a:srgbClr val="64748B"/>
                </a:solidFill>
              </a:rPr>
              <a:t>📷 Claude Code + Codex session (same repo)</a:t>
            </a:r>
          </a:p>
          <a:p>
            <a:pPr algn="ctr" rtl="1"/>
            <a:r>
              <a:rPr sz="1300" i="1">
                <a:solidFill>
                  <a:srgbClr val="64748B"/>
                </a:solidFill>
              </a:rPr>
              <a:t>(מסך אמיתי / צילום מסך חסר -- ראו screenshot-checklist.md)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VS Code בקצרה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0" i="0">
                <a:solidFill>
                  <a:srgbClr val="334155"/>
                </a:solidFill>
                <a:latin typeface="Arial"/>
              </a:rPr>
              <a:t>Extensions: PlatformIO IDE, C/C++ -- כל אחד עם סיבה, לא רשימה ארוכה</a:t>
            </a:r>
          </a:p>
          <a:p>
            <a:pPr algn="r" rtl="1">
              <a:spcAft>
                <a:spcPts val="1200"/>
              </a:spcAft>
            </a:pPr>
            <a:r>
              <a:rPr sz="2400" b="0" i="0">
                <a:solidFill>
                  <a:srgbClr val="334155"/>
                </a:solidFill>
                <a:latin typeface="Arial"/>
              </a:rPr>
              <a:t>JetBrains/CLion: אותם קבצים, טרמינל אחר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פרומפט ישיר מול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b="1" sz="1800">
                <a:solidFill>
                  <a:srgbClr val="0F172A"/>
                </a:solidFill>
              </a:rPr>
              <a:t>נושא        פרומפט ישיר              Spec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b="1" sz="2000">
                <a:solidFill>
                  <a:srgbClr val="2563EB"/>
                </a:solidFill>
                <a:latin typeface="Courier New"/>
              </a:rPr>
              <a:t>Requirements</a:t>
            </a:r>
            <a:r>
              <a:rPr sz="2000">
                <a:solidFill>
                  <a:srgbClr val="334155"/>
                </a:solidFill>
                <a:latin typeface="Arial"/>
              </a:rPr>
              <a:t>   —   בשיחת צ'אט   →   כקבצים ברפוזיטורי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b="1" sz="2000">
                <a:solidFill>
                  <a:srgbClr val="2563EB"/>
                </a:solidFill>
                <a:latin typeface="Courier New"/>
              </a:rPr>
              <a:t>Clarifications</a:t>
            </a:r>
            <a:r>
              <a:rPr sz="2000">
                <a:solidFill>
                  <a:srgbClr val="334155"/>
                </a:solidFill>
                <a:latin typeface="Arial"/>
              </a:rPr>
              <a:t>   —   הסוכן מניח לבד   →   שלב הבהרה מפורש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b="1" sz="2000">
                <a:solidFill>
                  <a:srgbClr val="2563EB"/>
                </a:solidFill>
                <a:latin typeface="Courier New"/>
              </a:rPr>
              <a:t>Traceability</a:t>
            </a:r>
            <a:r>
              <a:rPr sz="2000">
                <a:solidFill>
                  <a:srgbClr val="334155"/>
                </a:solidFill>
                <a:latin typeface="Arial"/>
              </a:rPr>
              <a:t>   —   נמוכה   →   גבוהה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b="1" sz="2000">
                <a:solidFill>
                  <a:srgbClr val="2563EB"/>
                </a:solidFill>
                <a:latin typeface="Courier New"/>
              </a:rPr>
              <a:t>Repeatability</a:t>
            </a:r>
            <a:r>
              <a:rPr sz="2000">
                <a:solidFill>
                  <a:srgbClr val="334155"/>
                </a:solidFill>
                <a:latin typeface="Arial"/>
              </a:rPr>
              <a:t>   —   נמוכה-בינונית   →   גבוהה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ולמה לא רק "עוד framework"?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OpenSpec -- טריטוריה דומה, template/command set שונה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BMAD -- יותר roles ו-handoffs, יותר overhead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Spec Kit נמצא בין פרומפט חופשי לתהליכי multi-agent כבדים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החומרה, מאומתת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Heltec WiFi Kit V3 (ESP32-S3), OLED מובנה, BME280 חיצוני</a:t>
            </a:r>
          </a:p>
          <a:p>
            <a:pPr algn="r" rtl="1">
              <a:spcAft>
                <a:spcPts val="1200"/>
              </a:spcAft>
            </a:pPr>
            <a:r>
              <a:rPr sz="2200" b="1" i="0">
                <a:solidFill>
                  <a:srgbClr val="B91C1C"/>
                </a:solidFill>
                <a:latin typeface="Arial"/>
              </a:rPr>
              <a:t>אין חיישן סביבתי מובנה בלוח -- זו כבר החלטת מוצר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פרט טכני מפתיע: פיני ה-I2C של המסך הם 17/18, לא ברירת המחדל של ESP32 (21/22)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Stage A: פרומפט בלבד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400" b="1" i="0">
                <a:solidFill>
                  <a:srgbClr val="2563EB"/>
                </a:solidFill>
                <a:latin typeface="Arial"/>
              </a:rPr>
              <a:t>המסר: הנחה משתמעת מול החלטה מפורשת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חיווט החומרה (I2C, Vext) נכון בשתי הגרסאות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מה שחסר: איזה חיישן, מה הסף המדויק, האם צריך היסטרזיס</a:t>
            </a:r>
          </a:p>
          <a:p>
            <a:pPr algn="r" rtl="1">
              <a:spcAft>
                <a:spcPts val="1200"/>
              </a:spcAft>
            </a:pPr>
            <a:r>
              <a:rPr sz="2000" b="0" i="1">
                <a:solidFill>
                  <a:srgbClr val="334155"/>
                </a:solidFill>
                <a:latin typeface="Arial"/>
              </a:rPr>
              <a:t>דוגמה מרכזית: אין היסטרזיס -- לא "באג", תוצאה של דרישה שמעולם לא נוסחה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Stage B-C: Specify + Clarify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4 השאלות שנשאלו בפועל: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334155"/>
                </a:solidFill>
                <a:latin typeface="Arial"/>
              </a:rPr>
              <a:t>קצב דגימה • גבולות סף מדויקים • debounce לתקלה • תוכן המסך בזמן תקלה</a:t>
            </a:r>
          </a:p>
        </p:txBody>
      </p:sp>
      <p:pic>
        <p:nvPicPr>
          <p:cNvPr id="4" name="Picture 3" descr="code-spec-clar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10515600" cy="3030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היסטרזיס: הדוגמה הכי ברורה</a:t>
            </a:r>
          </a:p>
        </p:txBody>
      </p:sp>
      <p:pic>
        <p:nvPicPr>
          <p:cNvPr id="3" name="Picture 2" descr="diagram-hyster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94415" cy="526984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Stage D-E: Plan + Tasks</a:t>
            </a:r>
          </a:p>
        </p:txBody>
      </p:sp>
      <p:pic>
        <p:nvPicPr>
          <p:cNvPr id="3" name="Picture 2" descr="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94415" cy="39446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0F172A"/>
                </a:solidFill>
                <a:latin typeface="Arial"/>
              </a:rPr>
              <a:t>⭐ Stage F: Analyze מוצא סתירה אמיתית</a:t>
            </a:r>
          </a:p>
        </p:txBody>
      </p:sp>
      <p:pic>
        <p:nvPicPr>
          <p:cNvPr id="3" name="Picture 2" descr="diagram-analyze-c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051560"/>
            <a:ext cx="7017283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>
                <a:solidFill>
                  <a:srgbClr val="FFFFFF"/>
                </a:solidFill>
                <a:latin typeface="Arial"/>
              </a:rPr>
              <a:t>/speckit-analyze לא מצא בעיית תחביר ולא באג בקוד.</a:t>
            </a:r>
          </a:p>
          <a:p>
            <a:pPr algn="ctr" rtl="1"/>
            <a:r>
              <a:rPr sz="2800" b="1">
                <a:solidFill>
                  <a:srgbClr val="FCD34D"/>
                </a:solidFill>
                <a:latin typeface="Arial"/>
              </a:rPr>
              <a:t>הוא מצא שהדרישות שלנו עצמן סתרו זו את זו -- לפני שנכתבה שורת קוד אחת.</a:t>
            </a:r>
          </a:p>
        </p:txBody>
      </p:sp>
      <p:pic>
        <p:nvPicPr>
          <p:cNvPr id="3" name="Picture 2" descr="code-analyze-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9418320" cy="25263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Stage G: Implement</a:t>
            </a:r>
          </a:p>
        </p:txBody>
      </p:sp>
      <p:pic>
        <p:nvPicPr>
          <p:cNvPr id="3" name="Picture 2" descr="code-monitor-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9875520" cy="3636515"/>
          </a:xfrm>
          <a:prstGeom prst="rect">
            <a:avLst/>
          </a:prstGeom>
        </p:spPr>
      </p:pic>
      <p:pic>
        <p:nvPicPr>
          <p:cNvPr id="4" name="Picture 3" descr="terminal-pio-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09160"/>
            <a:ext cx="4206240" cy="1556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4892040"/>
            <a:ext cx="60350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2000" b="1">
                <a:solidFill>
                  <a:srgbClr val="15803D"/>
                </a:solidFill>
                <a:latin typeface="Arial"/>
              </a:rPr>
              <a:t>monitor_logic נבדק לגמרי בלי חומרה</a:t>
            </a:r>
          </a:p>
          <a:p>
            <a:pPr algn="r" rtl="1"/>
            <a:r>
              <a:rPr sz="1800">
                <a:solidFill>
                  <a:srgbClr val="15803D"/>
                </a:solidFill>
                <a:latin typeface="Courier New"/>
              </a:rPr>
              <a:t>(pio test -e native, 11/11 עברו)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457200" y="5989320"/>
            <a:ext cx="11277295" cy="6400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הדגמה חיה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טמפרטורה רגילה → OK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חימום מעל 30°C → WARNING</a:t>
            </a:r>
          </a:p>
          <a:p>
            <a:pPr algn="r" rtl="1">
              <a:spcAft>
                <a:spcPts val="1200"/>
              </a:spcAft>
            </a:pPr>
            <a:r>
              <a:rPr sz="2000" b="1" i="0">
                <a:solidFill>
                  <a:srgbClr val="B91C1C"/>
                </a:solidFill>
                <a:latin typeface="Arial"/>
              </a:rPr>
              <a:t>קירור חלקי (28-30°C) ← נשאר WARNING (הנקודה החשובה ביותר)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קירור מתחת ל-28°C → חזרה ל-OK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אם יש זמן: ניתוק החיישן → SENSOR_ERROR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206240"/>
            <a:ext cx="10728655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i="1" b="1">
                <a:solidFill>
                  <a:srgbClr val="64748B"/>
                </a:solidFill>
              </a:rPr>
              <a:t>📷 Serial output + OLED photo</a:t>
            </a:r>
          </a:p>
          <a:p>
            <a:pPr algn="ctr" rtl="1"/>
            <a:r>
              <a:rPr sz="1300" i="1">
                <a:solidFill>
                  <a:srgbClr val="64748B"/>
                </a:solidFill>
              </a:rPr>
              <a:t>(מסך אמיתי / צילום מסך חסר -- ראו screenshot-checklist.md)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1">
                <a:solidFill>
                  <a:srgbClr val="D97706"/>
                </a:solidFill>
                <a:latin typeface="Arial"/>
              </a:rPr>
              <a:t>⏳ ממתין לאימות חומרה פיזי (checkpoint 09-hardware-verified)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57200" y="5989320"/>
            <a:ext cx="11277295" cy="6400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Git checkpoints</a:t>
            </a:r>
          </a:p>
        </p:txBody>
      </p:sp>
      <p:pic>
        <p:nvPicPr>
          <p:cNvPr id="3" name="Picture 2" descr="terminal-git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3443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1">
                <a:solidFill>
                  <a:srgbClr val="D97706"/>
                </a:solidFill>
                <a:latin typeface="Arial"/>
              </a:rPr>
              <a:t>⏳ תג 09-hardware-verified עדיין לא נוצר -- ממתין לבדיקה פיזית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FFFFFF"/>
                </a:solidFill>
                <a:latin typeface="Arial"/>
              </a:rPr>
              <a:t>חמש נקודות לזכור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•  מהירות הקידוד של ה-AI לא מבטלת את הצורך בדרישות ברורות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•  Spec Kit נותן מסלול חוזר מרעיון למימוש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•  Claude Code ו-Codex הם הסוכנים; Spec Kit הוא התהליך והמבנה</a:t>
            </a:r>
          </a:p>
          <a:p>
            <a:pPr algn="r" rtl="1">
              <a:spcAft>
                <a:spcPts val="12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•  המפרט, התוכנית והמשימות חיים ברפוזיטורי -- לא נעלמים בתוך צ'אט</a:t>
            </a:r>
          </a:p>
          <a:p>
            <a:pPr algn="r" rtl="1">
              <a:spcAft>
                <a:spcPts val="1200"/>
              </a:spcAft>
            </a:pPr>
            <a:r>
              <a:rPr sz="2200" b="1" i="0">
                <a:solidFill>
                  <a:srgbClr val="FCD34D"/>
                </a:solidFill>
                <a:latin typeface="Arial"/>
              </a:rPr>
              <a:t>•  ההוכחה הכי טובה: לא שהוא מייצר קוד, אלא שהוא מכריח לענות על שאלות לפני שנכתב הקוד הלא נכון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0F172A"/>
                </a:solidFill>
                <a:latin typeface="Arial"/>
              </a:rPr>
              <a:t>קישורים ותודות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Spec Kit: github.com/github/spec-kit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Spec Kit docs: github.github.io/spec-kit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Claude Code docs: docs.claude.com/en/docs/claude-code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Codex docs: developers.openai.com/codex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PlatformIO: platformio.org</a:t>
            </a:r>
          </a:p>
          <a:p>
            <a:pPr algn="r" rtl="1">
              <a:spcAft>
                <a:spcPts val="1200"/>
              </a:spcAft>
            </a:pPr>
            <a:r>
              <a:rPr sz="2000" b="0" i="0">
                <a:solidFill>
                  <a:srgbClr val="334155"/>
                </a:solidFill>
                <a:latin typeface="Arial"/>
              </a:rPr>
              <a:t>Heltec WiFi Kit 32 (V3): heltec.org/project/wifi-kit32-v3</a:t>
            </a:r>
          </a:p>
          <a:p>
            <a:pPr algn="r" rtl="1">
              <a:spcAft>
                <a:spcPts val="1200"/>
              </a:spcAft>
            </a:pPr>
            <a:r>
              <a:rPr sz="2000" b="0" i="1">
                <a:solidFill>
                  <a:srgbClr val="334155"/>
                </a:solidFill>
                <a:latin typeface="Arial"/>
              </a:rPr>
              <a:t>הריפו הנלווה: (למלא לאחר פרסום)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