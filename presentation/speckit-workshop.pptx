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/>
    <p:restoredTop sz="94606"/>
  </p:normalViewPr>
  <p:slideViewPr>
    <p:cSldViewPr snapToGrid="0" snapToObjects="1">
      <p:cViewPr varScale="1">
        <p:scale>
          <a:sx n="114" d="100"/>
          <a:sy n="114" d="100"/>
        </p:scale>
        <p:origin x="12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44128-29BA-6B49-A3BF-113B76FD9C7A}" type="datetimeFigureOut">
              <a:rPr lang="en-IL" smtClean="0"/>
              <a:t>14/09/2026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0F602-469C-FB4A-BD43-75FD2A2CB5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743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 dirty="0"/>
              <a:t>Go to the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F602-469C-FB4A-BD43-75FD2A2CB531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620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F602-469C-FB4A-BD43-75FD2A2CB531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2468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F602-469C-FB4A-BD43-75FD2A2CB531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819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0F602-469C-FB4A-BD43-75FD2A2CB531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4046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38.png"/><Relationship Id="rId21" Type="http://schemas.openxmlformats.org/officeDocument/2006/relationships/image" Target="../media/image56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6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0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Relationship Id="rId27" Type="http://schemas.openxmlformats.org/officeDocument/2006/relationships/image" Target="../media/image62.png"/><Relationship Id="rId30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.png"/><Relationship Id="rId16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peckit.org/" TargetMode="External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1.png"/><Relationship Id="rId5" Type="http://schemas.openxmlformats.org/officeDocument/2006/relationships/image" Target="../media/image86.png"/><Relationship Id="rId10" Type="http://schemas.openxmlformats.org/officeDocument/2006/relationships/image" Target="../media/image90.png"/><Relationship Id="rId4" Type="http://schemas.openxmlformats.org/officeDocument/2006/relationships/image" Target="../media/image85.png"/><Relationship Id="rId9" Type="http://schemas.openxmlformats.org/officeDocument/2006/relationships/image" Target="../media/image8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100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image" Target="../media/image6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6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4.png"/><Relationship Id="rId7" Type="http://schemas.openxmlformats.org/officeDocument/2006/relationships/image" Target="../media/image1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86.png"/><Relationship Id="rId4" Type="http://schemas.openxmlformats.org/officeDocument/2006/relationships/image" Target="../media/image145.png"/><Relationship Id="rId9" Type="http://schemas.openxmlformats.org/officeDocument/2006/relationships/image" Target="../media/image1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7" Type="http://schemas.openxmlformats.org/officeDocument/2006/relationships/image" Target="../media/image16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6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4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3" Type="http://schemas.openxmlformats.org/officeDocument/2006/relationships/image" Target="../media/image6.png"/><Relationship Id="rId7" Type="http://schemas.openxmlformats.org/officeDocument/2006/relationships/image" Target="../media/image17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6.png"/><Relationship Id="rId7" Type="http://schemas.openxmlformats.org/officeDocument/2006/relationships/image" Target="../media/image17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0.png"/><Relationship Id="rId18" Type="http://schemas.openxmlformats.org/officeDocument/2006/relationships/image" Target="../media/image195.png"/><Relationship Id="rId3" Type="http://schemas.openxmlformats.org/officeDocument/2006/relationships/image" Target="../media/image6.png"/><Relationship Id="rId21" Type="http://schemas.openxmlformats.org/officeDocument/2006/relationships/image" Target="../media/image198.png"/><Relationship Id="rId7" Type="http://schemas.openxmlformats.org/officeDocument/2006/relationships/image" Target="../media/image185.png"/><Relationship Id="rId12" Type="http://schemas.openxmlformats.org/officeDocument/2006/relationships/image" Target="../media/image189.png"/><Relationship Id="rId17" Type="http://schemas.openxmlformats.org/officeDocument/2006/relationships/image" Target="../media/image19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3.png"/><Relationship Id="rId20" Type="http://schemas.openxmlformats.org/officeDocument/2006/relationships/image" Target="../media/image1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11" Type="http://schemas.openxmlformats.org/officeDocument/2006/relationships/image" Target="../media/image188.png"/><Relationship Id="rId5" Type="http://schemas.openxmlformats.org/officeDocument/2006/relationships/image" Target="../media/image183.png"/><Relationship Id="rId15" Type="http://schemas.openxmlformats.org/officeDocument/2006/relationships/image" Target="../media/image192.png"/><Relationship Id="rId10" Type="http://schemas.openxmlformats.org/officeDocument/2006/relationships/image" Target="../media/image68.png"/><Relationship Id="rId19" Type="http://schemas.openxmlformats.org/officeDocument/2006/relationships/image" Target="../media/image196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" Type="http://schemas.openxmlformats.org/officeDocument/2006/relationships/image" Target="../media/image6.png"/><Relationship Id="rId16" Type="http://schemas.openxmlformats.org/officeDocument/2006/relationships/image" Target="../media/image2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5" Type="http://schemas.openxmlformats.org/officeDocument/2006/relationships/image" Target="../media/image21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4.png"/><Relationship Id="rId7" Type="http://schemas.openxmlformats.org/officeDocument/2006/relationships/image" Target="../media/image2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6.png"/><Relationship Id="rId5" Type="http://schemas.openxmlformats.org/officeDocument/2006/relationships/image" Target="../media/image172.png"/><Relationship Id="rId4" Type="http://schemas.openxmlformats.org/officeDocument/2006/relationships/image" Target="../media/image215.png"/><Relationship Id="rId9" Type="http://schemas.openxmlformats.org/officeDocument/2006/relationships/image" Target="../media/image2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13" Type="http://schemas.openxmlformats.org/officeDocument/2006/relationships/image" Target="../media/image237.png"/><Relationship Id="rId3" Type="http://schemas.openxmlformats.org/officeDocument/2006/relationships/image" Target="../media/image227.png"/><Relationship Id="rId7" Type="http://schemas.openxmlformats.org/officeDocument/2006/relationships/image" Target="../media/image231.png"/><Relationship Id="rId12" Type="http://schemas.openxmlformats.org/officeDocument/2006/relationships/image" Target="../media/image23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png"/><Relationship Id="rId11" Type="http://schemas.openxmlformats.org/officeDocument/2006/relationships/image" Target="../media/image235.png"/><Relationship Id="rId5" Type="http://schemas.openxmlformats.org/officeDocument/2006/relationships/image" Target="../media/image229.png"/><Relationship Id="rId10" Type="http://schemas.openxmlformats.org/officeDocument/2006/relationships/image" Target="../media/image234.png"/><Relationship Id="rId4" Type="http://schemas.openxmlformats.org/officeDocument/2006/relationships/image" Target="../media/image228.png"/><Relationship Id="rId9" Type="http://schemas.openxmlformats.org/officeDocument/2006/relationships/image" Target="../media/image2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38.png"/><Relationship Id="rId7" Type="http://schemas.openxmlformats.org/officeDocument/2006/relationships/image" Target="../media/image2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95.png"/><Relationship Id="rId4" Type="http://schemas.openxmlformats.org/officeDocument/2006/relationships/image" Target="../media/image239.png"/><Relationship Id="rId9" Type="http://schemas.openxmlformats.org/officeDocument/2006/relationships/image" Target="../media/image2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4.png"/><Relationship Id="rId3" Type="http://schemas.openxmlformats.org/officeDocument/2006/relationships/image" Target="../media/image244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17" Type="http://schemas.openxmlformats.org/officeDocument/2006/relationships/image" Target="../media/image258.png"/><Relationship Id="rId2" Type="http://schemas.openxmlformats.org/officeDocument/2006/relationships/image" Target="../media/image6.png"/><Relationship Id="rId16" Type="http://schemas.openxmlformats.org/officeDocument/2006/relationships/image" Target="../media/image2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5" Type="http://schemas.openxmlformats.org/officeDocument/2006/relationships/image" Target="../media/image25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5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2.png"/><Relationship Id="rId11" Type="http://schemas.openxmlformats.org/officeDocument/2006/relationships/image" Target="../media/image267.png"/><Relationship Id="rId5" Type="http://schemas.openxmlformats.org/officeDocument/2006/relationships/image" Target="../media/image261.png"/><Relationship Id="rId10" Type="http://schemas.openxmlformats.org/officeDocument/2006/relationships/image" Target="../media/image266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315" y="1952178"/>
            <a:ext cx="2861071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676" y="4362747"/>
            <a:ext cx="5848350" cy="542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02979" y="2647503"/>
            <a:ext cx="8385891" cy="781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156"/>
              </a:lnSpc>
            </a:pPr>
            <a:r>
              <a:rPr sz="5700" b="0" i="0" u="none">
                <a:solidFill>
                  <a:srgbClr val="FFFFFF"/>
                </a:solidFill>
                <a:latin typeface="Plus Jakarta Sans ExtraBold"/>
              </a:rPr>
              <a:t>From Prompt to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9213" y="3657897"/>
            <a:ext cx="71532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1" i="0" u="none">
                <a:solidFill>
                  <a:srgbClr val="60A5FA"/>
                </a:solidFill>
                <a:latin typeface="Plus Jakarta Sans"/>
              </a:rPr>
              <a:t>Spec-Driven Development with GitHub Spec Kit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960" y="2061715"/>
            <a:ext cx="194816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7633" y="4519909"/>
            <a:ext cx="228600" cy="228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40BD20-0DEA-59C1-DEEA-81A4F4B42423}"/>
              </a:ext>
            </a:extLst>
          </p:cNvPr>
          <p:cNvSpPr txBox="1"/>
          <p:nvPr/>
        </p:nvSpPr>
        <p:spPr>
          <a:xfrm>
            <a:off x="3004175" y="6076800"/>
            <a:ext cx="6183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dirty="0">
                <a:solidFill>
                  <a:schemeClr val="bg1"/>
                </a:solidFill>
              </a:rPr>
              <a:t>https://github.com/ronyronen/speckit-claude-presentation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436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553075"/>
            <a:ext cx="11353800" cy="981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485007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88" y="466724"/>
            <a:ext cx="132457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5171" y="2181671"/>
            <a:ext cx="9873853" cy="2095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0" i="0" u="none">
                <a:solidFill>
                  <a:srgbClr val="FBBF24"/>
                </a:solidFill>
                <a:latin typeface="Plus Jakarta Sans ExtraBold"/>
              </a:rPr>
              <a:t>INITIAL USER PROMPT TO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619821"/>
            <a:ext cx="10239375" cy="14086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sz="2550" b="1" i="0" u="none">
                <a:solidFill>
                  <a:srgbClr val="FFFFFF"/>
                </a:solidFill>
                <a:latin typeface="Plus Jakarta Sans"/>
              </a:rPr>
              <a:t>"Build an application for a Heltec WiFi Kit V3 that reads a sensor, shows the value on the display, and shows a warning when the value is too high."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8462" y="5857875"/>
            <a:ext cx="6772275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93C5FD"/>
                </a:solidFill>
                <a:latin typeface="Plus Jakarta Sans ExtraBold"/>
              </a:rPr>
              <a:t>Is this enough information to build the correct product?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650" y="2181671"/>
            <a:ext cx="251221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8941" y="5795157"/>
            <a:ext cx="484643" cy="4846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37457" y="291941"/>
            <a:ext cx="1015454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The </a:t>
            </a:r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Vague</a:t>
            </a:r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5667375"/>
            <a:ext cx="11353800" cy="866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343025"/>
            <a:ext cx="5600700" cy="419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43025"/>
            <a:ext cx="5600700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2569964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923925"/>
            <a:ext cx="113538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000" b="1" i="0" u="none" dirty="0">
                <a:solidFill>
                  <a:srgbClr val="FFFFFF"/>
                </a:solidFill>
                <a:latin typeface="Plus Jakarta Sans"/>
              </a:rPr>
              <a:t>A coding agent still has to answer every one of these -- it just answers them silently, by guessing: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22" y="457200"/>
            <a:ext cx="151507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1075" y="5820854"/>
            <a:ext cx="10563225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37"/>
              </a:lnSpc>
            </a:pPr>
            <a:r>
              <a:rPr sz="2000" b="0" i="0" u="none" dirty="0">
                <a:solidFill>
                  <a:srgbClr val="FCA5A5"/>
                </a:solidFill>
                <a:latin typeface="Plus Jakarta Sans ExtraBold"/>
              </a:rPr>
              <a:t>The problem is usually not that the AI cannot write the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6110287"/>
            <a:ext cx="10839450" cy="269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2000" b="0" i="0" u="none">
                <a:solidFill>
                  <a:srgbClr val="FFFFFF"/>
                </a:solidFill>
                <a:latin typeface="Plus Jakarta Sans SemiBold"/>
              </a:rPr>
              <a:t>The problem is that the product behavior was not sufficiently defined.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1754981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 dirty="0">
                <a:solidFill>
                  <a:srgbClr val="F1F5F9"/>
                </a:solidFill>
                <a:latin typeface="Plus Jakarta Sans"/>
              </a:rPr>
              <a:t>Which sensor is actually connected? (temperature-only? temperature + humidity? which chip?)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721768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How often should the value be sampled -- once a second, once a minute?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688556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What exactly counts as "too high" -- what is the numeric threshold?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655343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What happens right at the threshold -- does it flicker on and off as the value hovers there?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1784151"/>
            <a:ext cx="48291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Once the warning is showing, at what point does it clear again?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809279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What should happen if the sensor stops responding or returns garbage?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834407"/>
            <a:ext cx="48291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What should the display show while that error is happening?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626173"/>
            <a:ext cx="482917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37"/>
              </a:lnSpc>
            </a:pPr>
            <a:r>
              <a:rPr b="0" i="0" u="none">
                <a:solidFill>
                  <a:srgbClr val="F1F5F9"/>
                </a:solidFill>
                <a:latin typeface="Plus Jakarta Sans"/>
              </a:rPr>
              <a:t>What, if anything, gets written to the Serial console for debugging?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6" y="5722144"/>
            <a:ext cx="323850" cy="3238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783556"/>
            <a:ext cx="180975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2750343"/>
            <a:ext cx="1809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717131"/>
            <a:ext cx="180975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683918"/>
            <a:ext cx="180975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1812726"/>
            <a:ext cx="18097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2837854"/>
            <a:ext cx="180975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25" y="3862982"/>
            <a:ext cx="18097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4654748"/>
            <a:ext cx="180975" cy="18097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122414" y="291941"/>
            <a:ext cx="906958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Everything</a:t>
            </a:r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 the Prompt Never Answered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400175"/>
            <a:ext cx="11353800" cy="5133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3333750"/>
            <a:ext cx="1703040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490" y="3200400"/>
            <a:ext cx="1703040" cy="1409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4405" y="3333750"/>
            <a:ext cx="1703040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1320" y="3333750"/>
            <a:ext cx="1703040" cy="1143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8235" y="3333750"/>
            <a:ext cx="1703040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381000"/>
            <a:ext cx="1645146" cy="314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912912"/>
            <a:ext cx="110109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 dirty="0">
                <a:solidFill>
                  <a:srgbClr val="FFFFFF"/>
                </a:solidFill>
                <a:latin typeface="Plus Jakarta Sans ExtraBold"/>
              </a:rPr>
              <a:t>Direct Prompting vs. Spec-Driven Development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646" y="466724"/>
            <a:ext cx="151507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9525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7692" y="2670274"/>
            <a:ext cx="1033373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 dirty="0">
                <a:solidFill>
                  <a:srgbClr val="FCA5A5"/>
                </a:solidFill>
                <a:latin typeface="Plus Jakarta Sans ExtraBold"/>
              </a:rPr>
              <a:t>DIRECT PROMPT: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75" y="4932462"/>
            <a:ext cx="102298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1" u="none" dirty="0">
                <a:solidFill>
                  <a:srgbClr val="F87171"/>
                </a:solidFill>
                <a:latin typeface="Plus Jakarta Sans ExtraBold"/>
              </a:rPr>
              <a:t> Repeats indefinitely -- no durable memory of the decisions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2738437"/>
            <a:ext cx="181867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9412" y="4962525"/>
            <a:ext cx="2476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9370" y="3459704"/>
            <a:ext cx="28575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46015" y="3781425"/>
            <a:ext cx="21907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88035" y="3286125"/>
            <a:ext cx="36195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2930" y="3781425"/>
            <a:ext cx="21907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14950" y="3459704"/>
            <a:ext cx="361950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99845" y="3781425"/>
            <a:ext cx="2190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79965" y="34290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760" y="3781425"/>
            <a:ext cx="21907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6880" y="3459704"/>
            <a:ext cx="285750" cy="285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197596" y="291941"/>
            <a:ext cx="999440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From</a:t>
            </a:r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 Prompt to an Infinite Loop</a:t>
            </a:r>
          </a:p>
        </p:txBody>
      </p: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6C0285A9-9C1C-D2F0-B270-5D7787DAEB74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6069025" y="-3980"/>
            <a:ext cx="12700" cy="8961461"/>
          </a:xfrm>
          <a:prstGeom prst="bentConnector4">
            <a:avLst>
              <a:gd name="adj1" fmla="val 11507598"/>
              <a:gd name="adj2" fmla="val 99999"/>
            </a:avLst>
          </a:prstGeom>
          <a:ln>
            <a:round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343025"/>
            <a:ext cx="11353800" cy="1247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743200"/>
            <a:ext cx="11353800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1762125"/>
            <a:ext cx="1916459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7534" y="1762125"/>
            <a:ext cx="1916459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7844" y="1762125"/>
            <a:ext cx="1916459" cy="409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8154" y="1762125"/>
            <a:ext cx="1916459" cy="409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8464" y="1762125"/>
            <a:ext cx="1916459" cy="4095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4214812"/>
            <a:ext cx="1265485" cy="7905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4660" y="4214812"/>
            <a:ext cx="1265485" cy="7905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73996" y="4214812"/>
            <a:ext cx="1265485" cy="7905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63331" y="4214812"/>
            <a:ext cx="1265485" cy="7905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2667" y="4214812"/>
            <a:ext cx="1265485" cy="7905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42002" y="4114800"/>
            <a:ext cx="1265485" cy="990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31338" y="4214812"/>
            <a:ext cx="1265485" cy="7905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381000"/>
            <a:ext cx="1325016" cy="3143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2950" y="903387"/>
            <a:ext cx="110299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 dirty="0">
                <a:solidFill>
                  <a:srgbClr val="FFFFFF"/>
                </a:solidFill>
                <a:latin typeface="Plus Jakarta Sans ExtraBold"/>
              </a:rPr>
              <a:t>Direct Prompting vs. Spec-Driven Development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229" y="466724"/>
            <a:ext cx="151507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952500"/>
            <a:ext cx="20955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7225" y="1504950"/>
            <a:ext cx="108775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94A3B8"/>
                </a:solidFill>
                <a:latin typeface="Plus Jakarta Sans ExtraBold"/>
              </a:rPr>
              <a:t>DIRECT PROMPT: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2247900"/>
            <a:ext cx="108775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u="none">
                <a:solidFill>
                  <a:srgbClr val="94A3B8"/>
                </a:solidFill>
                <a:latin typeface="Plus Jakarta Sans"/>
              </a:rPr>
              <a:t> Repeats indefinitely -- no durable memory of the decisions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500" y="3738176"/>
            <a:ext cx="1054417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>
                <a:solidFill>
                  <a:srgbClr val="93C5FD"/>
                </a:solidFill>
                <a:latin typeface="Plus Jakarta Sans ExtraBold"/>
              </a:rPr>
              <a:t>SPEC-DRIVEN: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5276850"/>
            <a:ext cx="108013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1" u="none">
                <a:solidFill>
                  <a:srgbClr val="93C5FD"/>
                </a:solidFill>
                <a:latin typeface="Plus Jakarta Sans"/>
              </a:rPr>
              <a:t> Important decisions are made before the code, and kept in the repository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5325" y="3795712"/>
            <a:ext cx="16192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649884" y="1871662"/>
            <a:ext cx="17145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0194" y="1871662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30504" y="1871662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70814" y="1871662"/>
            <a:ext cx="17145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56555" y="4376737"/>
            <a:ext cx="1428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37010" y="4514850"/>
            <a:ext cx="17145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45891" y="4376737"/>
            <a:ext cx="142875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26346" y="4514850"/>
            <a:ext cx="171450" cy="1905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35226" y="4376737"/>
            <a:ext cx="142875" cy="190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15681" y="4514850"/>
            <a:ext cx="171450" cy="1905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86462" y="4376737"/>
            <a:ext cx="219075" cy="1905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05017" y="4514850"/>
            <a:ext cx="171450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90085" y="4376737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94352" y="4514850"/>
            <a:ext cx="17145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55681" y="4217103"/>
            <a:ext cx="238125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983688" y="4514850"/>
            <a:ext cx="171450" cy="1905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744944" y="4376737"/>
            <a:ext cx="238125" cy="1905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877466" y="291941"/>
            <a:ext cx="1031453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The </a:t>
            </a:r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Alternative</a:t>
            </a:r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: A Spec-Driven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343025"/>
            <a:ext cx="113538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81000"/>
            <a:ext cx="1711821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923925"/>
            <a:ext cx="11353800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000" b="1" i="0" u="none" dirty="0">
                <a:solidFill>
                  <a:srgbClr val="FFFFFF"/>
                </a:solidFill>
                <a:latin typeface="Plus Jakarta Sans"/>
              </a:rPr>
              <a:t>Every stage exists to catch one specific kind of mistake -- before it becomes code: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12" y="464343"/>
            <a:ext cx="151507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1504950"/>
            <a:ext cx="1095375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2243137"/>
            <a:ext cx="1095375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" y="2981325"/>
            <a:ext cx="1095375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3719512"/>
            <a:ext cx="1095375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4457700"/>
            <a:ext cx="1095375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125" y="5195887"/>
            <a:ext cx="10953750" cy="4381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5953125"/>
            <a:ext cx="1095375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6611" y="5276462"/>
            <a:ext cx="1905000" cy="276999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C4B5FD"/>
                </a:solidFill>
                <a:latin typeface="JetBrains Mono"/>
              </a:rP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100" y="5300662"/>
            <a:ext cx="2857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>
                <a:solidFill>
                  <a:srgbClr val="64748B"/>
                </a:solidFill>
                <a:latin typeface="Plus Jakarta San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850" y="5305425"/>
            <a:ext cx="84010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FFFFFF"/>
                </a:solidFill>
                <a:latin typeface="Plus Jakarta Sans"/>
              </a:rPr>
              <a:t>Two of our own documents quietly contradict each other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519" y="1639196"/>
            <a:ext cx="18097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519" y="2377383"/>
            <a:ext cx="180975" cy="1619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519" y="3115571"/>
            <a:ext cx="2000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519" y="3853758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519" y="4591946"/>
            <a:ext cx="16192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2044" y="5339658"/>
            <a:ext cx="161925" cy="1619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3481" y="6081712"/>
            <a:ext cx="200025" cy="1619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264271" y="291941"/>
            <a:ext cx="992772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What Each Stage Catches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497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313932"/>
            <a:ext cx="10725150" cy="1157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268908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6048375"/>
            <a:ext cx="1135380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84" y="466724"/>
            <a:ext cx="189607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1352642"/>
            <a:ext cx="10372725" cy="256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081"/>
              </a:lnSpc>
            </a:pP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 It's an open-source toolkit published by GitHub (</a:t>
            </a:r>
            <a:r>
              <a:rPr sz="1600" b="1" i="0" u="none" dirty="0" err="1">
                <a:solidFill>
                  <a:srgbClr val="60A5FA"/>
                </a:solidFill>
                <a:latin typeface="Plus Jakarta Sans"/>
              </a:rPr>
              <a:t>github.com</a:t>
            </a:r>
            <a:r>
              <a:rPr sz="1600" b="1" i="0" u="none" dirty="0">
                <a:solidFill>
                  <a:srgbClr val="60A5FA"/>
                </a:solidFill>
                <a:latin typeface="Plus Jakarta Sans"/>
              </a:rPr>
              <a:t>/</a:t>
            </a:r>
            <a:r>
              <a:rPr sz="1600" b="1" i="0" u="none" dirty="0" err="1">
                <a:solidFill>
                  <a:srgbClr val="60A5FA"/>
                </a:solidFill>
                <a:latin typeface="Plus Jakarta Sans"/>
              </a:rPr>
              <a:t>github</a:t>
            </a:r>
            <a:r>
              <a:rPr sz="1600" b="1" i="0" u="none" dirty="0">
                <a:solidFill>
                  <a:srgbClr val="60A5FA"/>
                </a:solidFill>
                <a:latin typeface="Plus Jakarta Sans"/>
              </a:rPr>
              <a:t>/spec-kit</a:t>
            </a:r>
            <a:r>
              <a:rPr sz="1600" b="1" i="0" u="none" dirty="0">
                <a:solidFill>
                  <a:srgbClr val="FFFFFF"/>
                </a:solidFill>
                <a:latin typeface="Plus Jakarta Sans"/>
              </a:rPr>
              <a:t>) -- free, not a product you buy.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2081212"/>
            <a:ext cx="10725150" cy="502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sz="1600" b="0" i="0" u="none">
                <a:solidFill>
                  <a:srgbClr val="CBD5E1"/>
                </a:solidFill>
                <a:latin typeface="Plus Jakarta Sans"/>
              </a:rPr>
              <a:t>Concretely, it is two things: a small command-line tool called </a:t>
            </a:r>
            <a:r>
              <a:rPr sz="1600" b="1" i="0" u="none">
                <a:solidFill>
                  <a:srgbClr val="38BDF8"/>
                </a:solidFill>
                <a:latin typeface="Plus Jakarta Sans"/>
              </a:rPr>
              <a:t>specify</a:t>
            </a:r>
            <a:r>
              <a:rPr sz="1600" b="0" i="0" u="none">
                <a:solidFill>
                  <a:srgbClr val="CBD5E1"/>
                </a:solidFill>
                <a:latin typeface="Plus Jakarta Sans"/>
              </a:rPr>
              <a:t>, plus a set of Skills/Commands (the </a:t>
            </a:r>
            <a:r>
              <a:rPr sz="1600" b="1" i="0" u="none">
                <a:solidFill>
                  <a:srgbClr val="C4B5FD"/>
                </a:solidFill>
                <a:latin typeface="Plus Jakarta Sans"/>
              </a:rPr>
              <a:t>/speckit-...</a:t>
            </a:r>
            <a:r>
              <a:rPr sz="1600" b="0" i="0" u="none">
                <a:solidFill>
                  <a:srgbClr val="CBD5E1"/>
                </a:solidFill>
                <a:latin typeface="Plus Jakarta Sans"/>
              </a:rPr>
              <a:t> commands we've been showing) that it installs into your AI coding agent -- Claude Code, Codex, 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070473"/>
            <a:ext cx="10725150" cy="775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sz="1600" b="0" i="0" u="none">
                <a:solidFill>
                  <a:srgbClr val="CBD5E1"/>
                </a:solidFill>
                <a:latin typeface="Plus Jakarta Sans"/>
              </a:rPr>
              <a:t>Spec Kit does not write your application code itself, and it is not an AI model. It structures the </a:t>
            </a:r>
            <a:r>
              <a:rPr sz="1600" b="0" i="1" u="none">
                <a:solidFill>
                  <a:srgbClr val="CBD5E1"/>
                </a:solidFill>
                <a:latin typeface="Plus Jakarta Sans"/>
              </a:rPr>
              <a:t>process</a:t>
            </a:r>
            <a:r>
              <a:rPr sz="1600" b="0" i="0" u="none">
                <a:solidFill>
                  <a:srgbClr val="CBD5E1"/>
                </a:solidFill>
                <a:latin typeface="Plus Jakarta Sans"/>
              </a:rPr>
              <a:t> a human and an AI agent go through together before and while code gets written: agree on rules, write down requirements, resolve ambiguity, plan the technical approach, break work into tasks, cross-check everything for contradictions, then implement.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6191250"/>
            <a:ext cx="10782300" cy="190373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r>
              <a:rPr sz="1237" b="1" i="0" u="none" dirty="0">
                <a:solidFill>
                  <a:srgbClr val="CBD5E1"/>
                </a:solidFill>
                <a:latin typeface="Plus Jakarta Sans"/>
              </a:rPr>
              <a:t>Spec Kit website + GitHub repo</a:t>
            </a:r>
            <a:r>
              <a:rPr lang="en-US" sz="1237" b="1" i="0" u="none" dirty="0">
                <a:solidFill>
                  <a:srgbClr val="CBD5E1"/>
                </a:solidFill>
                <a:latin typeface="Plus Jakarta Sans"/>
              </a:rPr>
              <a:t>: </a:t>
            </a:r>
            <a:r>
              <a:rPr lang="en-US" sz="1237" b="1" dirty="0">
                <a:solidFill>
                  <a:srgbClr val="CBD5E1"/>
                </a:solidFill>
                <a:latin typeface="Plus Jakarta Sans"/>
                <a:hlinkClick r:id="rId8"/>
              </a:rPr>
              <a:t>https://</a:t>
            </a:r>
            <a:r>
              <a:rPr lang="en-US" sz="1237" b="1" dirty="0" err="1">
                <a:solidFill>
                  <a:srgbClr val="CBD5E1"/>
                </a:solidFill>
                <a:latin typeface="Plus Jakarta Sans"/>
                <a:hlinkClick r:id="rId8"/>
              </a:rPr>
              <a:t>speckit.org</a:t>
            </a:r>
            <a:r>
              <a:rPr lang="en-US" sz="1237" b="1" dirty="0">
                <a:solidFill>
                  <a:srgbClr val="CBD5E1"/>
                </a:solidFill>
                <a:latin typeface="Plus Jakarta Sans"/>
                <a:hlinkClick r:id="rId8"/>
              </a:rPr>
              <a:t>/</a:t>
            </a:r>
            <a:endParaRPr sz="1237" b="1" i="0" u="none" dirty="0">
              <a:solidFill>
                <a:srgbClr val="CBD5E1"/>
              </a:solidFill>
              <a:latin typeface="Plus Jakarta Sans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356866"/>
            <a:ext cx="23812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3425" y="4456807"/>
            <a:ext cx="1743075" cy="2095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sz="1312" b="1" i="0" u="none">
                <a:solidFill>
                  <a:srgbClr val="34D399"/>
                </a:solidFill>
                <a:latin typeface="Plus Jakarta Sans"/>
              </a:rPr>
              <a:t>Why GitHub built it: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6210300"/>
            <a:ext cx="17145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4485382"/>
            <a:ext cx="123825" cy="16668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21358" y="291941"/>
            <a:ext cx="10370641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What Is GitHub Spec Kit -- and Why Does It Exist?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543050"/>
            <a:ext cx="11353800" cy="4991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923925"/>
            <a:ext cx="3552825" cy="466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375" y="923925"/>
            <a:ext cx="4914900" cy="466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1552575"/>
            <a:ext cx="11334750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81000"/>
            <a:ext cx="1013519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06" y="473155"/>
            <a:ext cx="151507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2171700"/>
            <a:ext cx="10801350" cy="29022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60A5FA"/>
                </a:solidFill>
                <a:latin typeface="JetBrains Mono SemiBold"/>
              </a:rPr>
              <a:t>$ specify </a:t>
            </a:r>
            <a:r>
              <a:rPr sz="1400" b="0" i="0" u="none" dirty="0" err="1">
                <a:solidFill>
                  <a:srgbClr val="60A5FA"/>
                </a:solidFill>
                <a:latin typeface="JetBrains Mono SemiBold"/>
              </a:rPr>
              <a:t>init</a:t>
            </a:r>
            <a:r>
              <a:rPr sz="1400" b="0" i="0" u="none" dirty="0">
                <a:solidFill>
                  <a:srgbClr val="60A5FA"/>
                </a:solidFill>
                <a:latin typeface="JetBrains Mono SemiBold"/>
              </a:rPr>
              <a:t> --here --force --integration </a:t>
            </a:r>
            <a:r>
              <a:rPr sz="1400" b="0" i="0" u="none" dirty="0" err="1">
                <a:solidFill>
                  <a:srgbClr val="60A5FA"/>
                </a:solidFill>
                <a:latin typeface="JetBrains Mono SemiBold"/>
              </a:rPr>
              <a:t>claude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64748B"/>
                </a:solidFill>
                <a:latin typeface="JetBrains Mono"/>
              </a:rPr>
              <a:t>Selected coding agent integration: </a:t>
            </a:r>
            <a:r>
              <a:rPr sz="1400" b="0" i="0" u="none" dirty="0" err="1">
                <a:solidFill>
                  <a:srgbClr val="64748B"/>
                </a:solidFill>
                <a:latin typeface="JetBrains Mono"/>
              </a:rPr>
              <a:t>claude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400" b="0" i="0" u="none" dirty="0">
                <a:solidFill>
                  <a:srgbClr val="64748B"/>
                </a:solidFill>
                <a:latin typeface="JetBrains Mono"/>
              </a:rPr>
              <a:t>Selected script type: </a:t>
            </a:r>
            <a:r>
              <a:rPr sz="1400" b="0" i="0" u="none" dirty="0" err="1">
                <a:solidFill>
                  <a:srgbClr val="64748B"/>
                </a:solidFill>
                <a:latin typeface="JetBrains Mono"/>
              </a:rPr>
              <a:t>sh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Initialize Specify Project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Check required tools (ok)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Select coding agent integration (</a:t>
            </a:r>
            <a:r>
              <a:rPr sz="1400" b="0" i="0" u="none" dirty="0" err="1">
                <a:solidFill>
                  <a:srgbClr val="F1F5F9"/>
                </a:solidFill>
                <a:latin typeface="JetBrains Mono"/>
              </a:rPr>
              <a:t>claude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Select script type (</a:t>
            </a:r>
            <a:r>
              <a:rPr sz="1400" b="0" i="0" u="none" dirty="0" err="1">
                <a:solidFill>
                  <a:srgbClr val="F1F5F9"/>
                </a:solidFill>
                <a:latin typeface="JetBrains Mono"/>
              </a:rPr>
              <a:t>sh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Install integration (Claude Code)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Install shared infrastructure (scripts (</a:t>
            </a:r>
            <a:r>
              <a:rPr sz="1400" b="0" i="0" u="none" dirty="0" err="1">
                <a:solidFill>
                  <a:srgbClr val="F1F5F9"/>
                </a:solidFill>
                <a:latin typeface="JetBrains Mono"/>
              </a:rPr>
              <a:t>sh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) + templates)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Ensure scripts executable (5 updated)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Constitution setup (copied from template)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├──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Install bundled workflow (</a:t>
            </a:r>
            <a:r>
              <a:rPr sz="1400" b="0" i="0" u="none" dirty="0" err="1">
                <a:solidFill>
                  <a:srgbClr val="F1F5F9"/>
                </a:solidFill>
                <a:latin typeface="JetBrains Mono"/>
              </a:rPr>
              <a:t>speckit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installed)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└── </a:t>
            </a: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●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Finalize (project ready) </a:t>
            </a:r>
            <a:r>
              <a:rPr sz="1400" b="0" i="0" u="none" dirty="0">
                <a:solidFill>
                  <a:srgbClr val="FBBF24"/>
                </a:solidFill>
                <a:latin typeface="JetBrains Mono ExtraBold"/>
              </a:rPr>
              <a:t>Project ready.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1081087"/>
            <a:ext cx="1714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6250" y="1081087"/>
            <a:ext cx="171450" cy="15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14475" y="1666875"/>
            <a:ext cx="914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 SemiBold"/>
              </a:rPr>
              <a:t>bash — 80x24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5875" y="1685925"/>
            <a:ext cx="15240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65969" y="291941"/>
            <a:ext cx="1062603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>
                <a:solidFill>
                  <a:srgbClr val="FFFFFF"/>
                </a:solidFill>
                <a:latin typeface="Plus Jakarta Sans ExtraBold"/>
              </a:rPr>
              <a:t>Installation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124325"/>
            <a:ext cx="11353800" cy="101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914650"/>
            <a:ext cx="1352550" cy="942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5975" y="2914650"/>
            <a:ext cx="1352550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2850" y="2914650"/>
            <a:ext cx="1352550" cy="942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9725" y="2914650"/>
            <a:ext cx="1352550" cy="942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914650"/>
            <a:ext cx="1352550" cy="942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3475" y="2914650"/>
            <a:ext cx="1352550" cy="942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0350" y="2914650"/>
            <a:ext cx="1352550" cy="942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381000"/>
            <a:ext cx="1486941" cy="3143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" y="2265820"/>
            <a:ext cx="1091565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 u="none" dirty="0">
                <a:solidFill>
                  <a:srgbClr val="FFFFFF"/>
                </a:solidFill>
                <a:latin typeface="Plus Jakarta Sans ExtraBold"/>
              </a:rPr>
              <a:t>The Spec Kit Workflow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5935" y="466724"/>
            <a:ext cx="17055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2347913"/>
            <a:ext cx="3048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5325" y="4324350"/>
            <a:ext cx="108013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60A5FA"/>
                </a:solidFill>
                <a:latin typeface="JetBrains Mono"/>
              </a:rPr>
              <a:t>Claude Code: /speckit- | Codex: $speckit-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676775"/>
            <a:ext cx="108013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i="1" u="none" dirty="0">
                <a:solidFill>
                  <a:srgbClr val="FFFFFF"/>
                </a:solidFill>
                <a:latin typeface="Plus Jakarta Sans ExtraBold"/>
              </a:rPr>
              <a:t> Every stage produces a real file in the repository -- not just a chat reply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6787" y="3026145"/>
            <a:ext cx="257175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6900" y="3290887"/>
            <a:ext cx="1238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33662" y="3026145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33775" y="3290887"/>
            <a:ext cx="12382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86250" y="3026145"/>
            <a:ext cx="28575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3290887"/>
            <a:ext cx="1238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81700" y="3026145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67525" y="3290887"/>
            <a:ext cx="12382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48575" y="3026145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4400" y="3290887"/>
            <a:ext cx="123825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15450" y="3026145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1275" y="3290887"/>
            <a:ext cx="12382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53750" y="3026145"/>
            <a:ext cx="28575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39391" y="291941"/>
            <a:ext cx="1015260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The Workflow in Seven Stages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5467350" cy="485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619250"/>
            <a:ext cx="11353800" cy="4914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916239"/>
            <a:ext cx="10610850" cy="12048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2154733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38" y="466724"/>
            <a:ext cx="170557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732" y="1062037"/>
            <a:ext cx="16192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2227488"/>
            <a:ext cx="10248900" cy="5995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362"/>
              </a:lnSpc>
            </a:pPr>
            <a:r>
              <a:rPr b="1" i="0" u="none">
                <a:solidFill>
                  <a:srgbClr val="FFFFFF"/>
                </a:solidFill>
                <a:latin typeface="Plus Jakarta Sans"/>
              </a:rPr>
              <a:t>Every stage writes plain Markdown files into the repository -- they are committed to git like any other source 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566963"/>
            <a:ext cx="10248900" cy="571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That's the opposite of a chat conversation, which lives in one tool, is easy to lose, and is hard for a second person (or a second AI agent) to pick up later.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41295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738413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9175" y="5101700"/>
            <a:ext cx="10010381" cy="872034"/>
          </a:xfrm>
          <a:prstGeom prst="rect">
            <a:avLst/>
          </a:prstGeom>
          <a:noFill/>
        </p:spPr>
        <p:txBody>
          <a:bodyPr wrap="square" lIns="360000" tIns="0" rIns="0" bIns="0" anchor="t">
            <a:spAutoFit/>
          </a:bodyPr>
          <a:lstStyle/>
          <a:p>
            <a:pPr>
              <a:lnSpc>
                <a:spcPts val="2325"/>
              </a:lnSpc>
            </a:pPr>
            <a:r>
              <a:rPr b="1" i="0" u="none" dirty="0">
                <a:solidFill>
                  <a:srgbClr val="34D399"/>
                </a:solidFill>
                <a:latin typeface="Plus Jakarta Sans"/>
              </a:rPr>
              <a:t>Practical payoff:</a:t>
            </a:r>
            <a:r>
              <a:rPr b="0" i="0" u="none" dirty="0">
                <a:solidFill>
                  <a:srgbClr val="FFFFFF"/>
                </a:solidFill>
                <a:latin typeface="Plus Jakarta Sans"/>
              </a:rPr>
              <a:t> you can close the chat, switch from Claude Code to Codex, or come back to the project a month later, open </a:t>
            </a:r>
            <a:r>
              <a:rPr b="0" i="0" u="none" dirty="0" err="1">
                <a:solidFill>
                  <a:srgbClr val="FFFF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spec.md</a:t>
            </a:r>
            <a:r>
              <a:rPr b="0" i="0" u="none" dirty="0">
                <a:solidFill>
                  <a:srgbClr val="FFFFFF"/>
                </a:solidFill>
                <a:latin typeface="Plus Jakarta Sans"/>
              </a:rPr>
              <a:t>, and see exactly what was decided and why -- without reconstructing it from memory.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375" y="5173414"/>
            <a:ext cx="1619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7183" y="291941"/>
            <a:ext cx="9484816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The Output: Real Files in the Repository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828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517576"/>
            <a:ext cx="11353800" cy="828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4111228"/>
            <a:ext cx="11353800" cy="828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5704879"/>
            <a:ext cx="11353800" cy="828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381000"/>
            <a:ext cx="1843236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41" y="469999"/>
            <a:ext cx="170557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3775" y="1185862"/>
            <a:ext cx="3429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325" y="2063650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91875" y="2779514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325" y="3657302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15675" y="4373165"/>
            <a:ext cx="3810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325" y="5250953"/>
            <a:ext cx="13335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1875" y="5966817"/>
            <a:ext cx="3048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900" y="1065312"/>
            <a:ext cx="27146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  <a:latin typeface="Plus Jakarta Sans ExtraBold"/>
              </a:rPr>
              <a:t>Spec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1381125"/>
            <a:ext cx="5524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Plus Jakarta Sans"/>
              </a:rPr>
              <a:t>workflow + specs + repository 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2658963"/>
            <a:ext cx="43529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  <a:latin typeface="Plus Jakarta Sans ExtraBold"/>
              </a:rPr>
              <a:t>Claude Code / 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2974776"/>
            <a:ext cx="852694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reasoning + coding: edits files, runs commands, implements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475" y="4252615"/>
            <a:ext cx="45148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  <a:latin typeface="Plus Jakarta Sans ExtraBold"/>
              </a:rPr>
              <a:t>IDE (VS Code / CLion)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4568428"/>
            <a:ext cx="881861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Plus Jakarta Sans"/>
              </a:rPr>
              <a:t>the human workspace: editing, Git, terminal, build,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750" y="5846266"/>
            <a:ext cx="52292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 u="none">
                <a:solidFill>
                  <a:srgbClr val="FFFFFF"/>
                </a:solidFill>
                <a:latin typeface="Plus Jakarta Sans ExtraBold"/>
              </a:rPr>
              <a:t>The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4" y="6162079"/>
            <a:ext cx="995096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Plus Jakarta Sans"/>
              </a:rPr>
              <a:t>specs/ + firmware/ + tests/ + docs/ -- decisions live here permanently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1114425"/>
            <a:ext cx="238125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2708076"/>
            <a:ext cx="26670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4301728"/>
            <a:ext cx="266700" cy="2095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2475" y="5895379"/>
            <a:ext cx="180975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95686" y="291941"/>
            <a:ext cx="979631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 dirty="0">
                <a:solidFill>
                  <a:srgbClr val="FFFFFF"/>
                </a:solidFill>
                <a:latin typeface="Plus Jakarta Sans ExtraBold"/>
              </a:rPr>
              <a:t>Who Does </a:t>
            </a:r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What</a:t>
            </a:r>
            <a:endParaRPr sz="2700" b="0" i="0" u="none" dirty="0">
              <a:solidFill>
                <a:srgbClr val="FFFFFF"/>
              </a:solidFill>
              <a:latin typeface="Plus Jakarta Sans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561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4793307"/>
            <a:ext cx="10534650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230808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92" y="466724"/>
            <a:ext cx="151507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8675" y="1635769"/>
            <a:ext cx="10534650" cy="659903"/>
          </a:xfrm>
          <a:prstGeom prst="rect">
            <a:avLst/>
          </a:prstGeom>
          <a:noFill/>
        </p:spPr>
        <p:txBody>
          <a:bodyPr wrap="square" lIns="360000" tIns="0" rIns="0" bIns="0" anchor="t">
            <a:spAutoFit/>
          </a:bodyPr>
          <a:lstStyle/>
          <a:p>
            <a:pPr algn="l">
              <a:lnSpc>
                <a:spcPts val="2598"/>
              </a:lnSpc>
            </a:pPr>
            <a:r>
              <a:rPr sz="1575" b="0" i="0" u="none" dirty="0">
                <a:solidFill>
                  <a:srgbClr val="FFFFFF"/>
                </a:solidFill>
                <a:latin typeface="Plus Jakarta Sans"/>
              </a:rPr>
              <a:t>Two VS Code extensions do all the real work here: </a:t>
            </a:r>
            <a:r>
              <a:rPr sz="1575" b="1" i="0" u="none" dirty="0" err="1">
                <a:solidFill>
                  <a:srgbClr val="60A5FA"/>
                </a:solidFill>
                <a:latin typeface="Plus Jakarta Sans"/>
              </a:rPr>
              <a:t>PlatformIO</a:t>
            </a:r>
            <a:r>
              <a:rPr sz="1575" b="1" i="0" u="none" dirty="0">
                <a:solidFill>
                  <a:srgbClr val="60A5FA"/>
                </a:solidFill>
                <a:latin typeface="Plus Jakarta Sans"/>
              </a:rPr>
              <a:t> IDE</a:t>
            </a:r>
            <a:r>
              <a:rPr sz="1575" b="0" i="0" u="none" dirty="0">
                <a:solidFill>
                  <a:srgbClr val="FFFFFF"/>
                </a:solidFill>
                <a:latin typeface="Plus Jakarta Sans"/>
              </a:rPr>
              <a:t> (builds and flashes the firmware, manages the ESP32 toolchain) and </a:t>
            </a:r>
            <a:r>
              <a:rPr sz="1575" b="1" i="0" u="none" dirty="0">
                <a:solidFill>
                  <a:srgbClr val="60A5FA"/>
                </a:solidFill>
                <a:latin typeface="Plus Jakarta Sans"/>
              </a:rPr>
              <a:t>C/C++</a:t>
            </a:r>
            <a:r>
              <a:rPr sz="1575" b="0" i="0" u="none" dirty="0">
                <a:solidFill>
                  <a:srgbClr val="FFFFFF"/>
                </a:solidFill>
                <a:latin typeface="Plus Jakarta Sans"/>
              </a:rPr>
              <a:t> (syntax highlighting and navigation for the firmware source).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3185963"/>
            <a:ext cx="10534650" cy="659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98"/>
              </a:lnSpc>
            </a:pPr>
            <a:r>
              <a:rPr sz="1575" b="0" i="0" u="none">
                <a:solidFill>
                  <a:srgbClr val="CBD5E1"/>
                </a:solidFill>
                <a:latin typeface="Plus Jakarta Sans"/>
              </a:rPr>
              <a:t>Everything else in this workshop -- Spec Kit's commands, Claude Code, Codex -- works the same way regardless of editor.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5012382"/>
            <a:ext cx="9934575" cy="566950"/>
          </a:xfrm>
          <a:prstGeom prst="rect">
            <a:avLst/>
          </a:prstGeom>
          <a:noFill/>
        </p:spPr>
        <p:txBody>
          <a:bodyPr wrap="square" lIns="360000" tIns="0" rIns="0" bIns="0" anchor="t">
            <a:spAutoFit/>
          </a:bodyPr>
          <a:lstStyle/>
          <a:p>
            <a:pPr marL="11113">
              <a:lnSpc>
                <a:spcPts val="2325"/>
              </a:lnSpc>
            </a:pPr>
            <a:r>
              <a:rPr sz="1500" b="1" i="0" u="none" dirty="0">
                <a:solidFill>
                  <a:srgbClr val="38BDF8"/>
                </a:solidFill>
                <a:latin typeface="Plus Jakarta Sans"/>
              </a:rPr>
              <a:t>If you use JetBrains/CLion instead:</a:t>
            </a:r>
            <a:r>
              <a:rPr sz="1500" b="0" i="0" u="none" dirty="0">
                <a:solidFill>
                  <a:srgbClr val="F8FAFC"/>
                </a:solidFill>
                <a:latin typeface="Plus Jakarta Sans"/>
              </a:rPr>
              <a:t> same repository, same files, same Spec Kit commands, just a different terminal and a different set of keyboard shortcuts.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680" y="1477127"/>
            <a:ext cx="2000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0110" y="2314722"/>
            <a:ext cx="1524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525" y="5079057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258" y="291941"/>
            <a:ext cx="10408741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VS Code, Briefly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381125"/>
            <a:ext cx="11353800" cy="515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381000"/>
            <a:ext cx="1646932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9100" y="923925"/>
            <a:ext cx="11353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Plus Jakarta Sans"/>
              </a:rPr>
              <a:t>Same underlying agent, same target hardware -- what changes is where each of these things lives: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88" y="466724"/>
            <a:ext cx="189607" cy="14287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75456"/>
              </p:ext>
            </p:extLst>
          </p:nvPr>
        </p:nvGraphicFramePr>
        <p:xfrm>
          <a:off x="428625" y="1390650"/>
          <a:ext cx="11334748" cy="5133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54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6795">
                <a:tc>
                  <a:txBody>
                    <a:bodyPr/>
                    <a:lstStyle/>
                    <a:p>
                      <a:pPr algn="l"/>
                      <a:r>
                        <a:rPr sz="2400" b="0" i="0" u="none">
                          <a:solidFill>
                            <a:srgbClr val="94A3B8"/>
                          </a:solidFill>
                          <a:latin typeface="Plus Jakarta Sans ExtraBold"/>
                        </a:rPr>
                        <a:t>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 dirty="0">
                          <a:solidFill>
                            <a:srgbClr val="F87171"/>
                          </a:solidFill>
                          <a:latin typeface="Plus Jakarta Sans ExtraBold"/>
                        </a:rPr>
                        <a:t>Direct Prompting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>
                          <a:solidFill>
                            <a:srgbClr val="34D399"/>
                          </a:solidFill>
                          <a:latin typeface="Plus Jakarta Sans ExtraBold"/>
                        </a:rPr>
                        <a:t>Spec Kit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l"/>
                      <a:r>
                        <a:rPr sz="2400" b="0" i="0" u="none">
                          <a:solidFill>
                            <a:srgbClr val="FFFFFF"/>
                          </a:solidFill>
                          <a:latin typeface="Plus Jakarta Sans ExtraBold"/>
                        </a:rPr>
                        <a:t>Requirements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 dirty="0">
                          <a:solidFill>
                            <a:srgbClr val="94A3B8"/>
                          </a:solidFill>
                          <a:latin typeface="Plus Jakarta Sans"/>
                        </a:rPr>
                        <a:t>Live in chat history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0" u="none" dirty="0">
                          <a:solidFill>
                            <a:srgbClr val="34D399"/>
                          </a:solidFill>
                          <a:latin typeface="Plus Jakarta Sans"/>
                        </a:rPr>
                        <a:t>Live as repository files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l"/>
                      <a:r>
                        <a:rPr sz="2400" b="0" i="0" u="none">
                          <a:solidFill>
                            <a:srgbClr val="FFFFFF"/>
                          </a:solidFill>
                          <a:latin typeface="Plus Jakarta Sans ExtraBold"/>
                        </a:rPr>
                        <a:t>Clarifications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Agent assumes on its 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0" u="none" dirty="0">
                          <a:solidFill>
                            <a:srgbClr val="34D399"/>
                          </a:solidFill>
                          <a:latin typeface="Plus Jakarta Sans"/>
                        </a:rPr>
                        <a:t>Explicit clarification stage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l"/>
                      <a:r>
                        <a:rPr sz="2400" b="0" i="0" u="none">
                          <a:solidFill>
                            <a:srgbClr val="FFFFFF"/>
                          </a:solidFill>
                          <a:latin typeface="Plus Jakarta Sans ExtraBold"/>
                        </a:rPr>
                        <a:t>Traceability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0" u="none" dirty="0">
                          <a:solidFill>
                            <a:srgbClr val="34D39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795">
                <a:tc>
                  <a:txBody>
                    <a:bodyPr/>
                    <a:lstStyle/>
                    <a:p>
                      <a:pPr algn="l"/>
                      <a:r>
                        <a:rPr sz="2400" b="0" i="0" u="none">
                          <a:solidFill>
                            <a:srgbClr val="FFFFFF"/>
                          </a:solidFill>
                          <a:latin typeface="Plus Jakarta Sans ExtraBold"/>
                        </a:rPr>
                        <a:t>Repeatability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Low-to-medium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i="0" u="none" dirty="0">
                          <a:solidFill>
                            <a:srgbClr val="34D39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3922" y="1613059"/>
            <a:ext cx="1428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4618" y="1613059"/>
            <a:ext cx="17145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9382" y="291941"/>
            <a:ext cx="999261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Direct Prompting vs. Spec Kit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5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5577482"/>
            <a:ext cx="11353800" cy="9566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400175"/>
            <a:ext cx="5572125" cy="40058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1400175"/>
            <a:ext cx="5572125" cy="40058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1249858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9100" y="923925"/>
            <a:ext cx="11353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i="0" u="none">
                <a:solidFill>
                  <a:srgbClr val="FFFFFF"/>
                </a:solidFill>
                <a:latin typeface="Plus Jakarta Sans"/>
              </a:rPr>
              <a:t>Spec Kit is not the only tool in this space -- it's worth knowing it's a design point on a spectrum, not the only option.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607" y="466724"/>
            <a:ext cx="151507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767982"/>
            <a:ext cx="10801350" cy="575667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b="1" i="0" u="none">
                <a:solidFill>
                  <a:srgbClr val="FFFFFF"/>
                </a:solidFill>
                <a:latin typeface="Plus Jakarta Sans"/>
              </a:rPr>
              <a:t>Spec Kit deliberately sits in the middle: more structure than a bare prompt, far less ceremony than a multi-role framework -- which is why it fits a small embedded-firmware example like this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869883"/>
            <a:ext cx="46101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60A5FA"/>
                </a:solidFill>
                <a:latin typeface="Plus Jakarta Sans ExtraBold"/>
              </a:rPr>
              <a:t>OpenSpec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330773"/>
            <a:ext cx="4895850" cy="547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sz="1600" b="0" i="0" u="none">
                <a:solidFill>
                  <a:srgbClr val="CBD5E1"/>
                </a:solidFill>
                <a:latin typeface="Plus Jakarta Sans"/>
              </a:rPr>
              <a:t>covers similar territory -- write specs before code -- with its own template and command conventions.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2544277"/>
            <a:ext cx="449580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0" u="none">
                <a:solidFill>
                  <a:srgbClr val="C4B5FD"/>
                </a:solidFill>
                <a:latin typeface="Plus Jakarta Sans ExtraBold"/>
              </a:rPr>
              <a:t>BMAD (Breakthrough Method for Agile AI-Driven Development)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332708"/>
            <a:ext cx="4895850" cy="84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20"/>
              </a:lnSpc>
            </a:pPr>
            <a:r>
              <a:rPr sz="1600" b="0" i="0" u="none">
                <a:solidFill>
                  <a:srgbClr val="CBD5E1"/>
                </a:solidFill>
                <a:latin typeface="Plus Jakarta Sans"/>
              </a:rPr>
              <a:t>goes further: multiple defined AI roles (analyst, architect, developer, QA) handing work off to each other, which adds real structure but also real overhead for a small project.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5806082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50" y="2940248"/>
            <a:ext cx="17145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2799308"/>
            <a:ext cx="28575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02308" y="291941"/>
            <a:ext cx="10389691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And Why Not Just "Another Framework"?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561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4602807"/>
            <a:ext cx="10610850" cy="12584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937444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293" y="466724"/>
            <a:ext cx="151507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1596479"/>
            <a:ext cx="106108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0" i="0" u="none">
                <a:solidFill>
                  <a:srgbClr val="FFFFFF"/>
                </a:solidFill>
                <a:latin typeface="Plus Jakarta Sans"/>
              </a:rPr>
              <a:t>The board we're actually building for: a </a:t>
            </a:r>
            <a:r>
              <a:rPr sz="1575" b="1" i="0" u="none">
                <a:solidFill>
                  <a:srgbClr val="38BDF8"/>
                </a:solidFill>
                <a:latin typeface="Plus Jakarta Sans"/>
              </a:rPr>
              <a:t>Heltec WiFi Kit V3</a:t>
            </a:r>
            <a:r>
              <a:rPr sz="1575" b="0" i="0" u="none">
                <a:solidFill>
                  <a:srgbClr val="FFFFFF"/>
                </a:solidFill>
                <a:latin typeface="Plus Jakarta Sans"/>
              </a:rPr>
              <a:t>, which is an ESP32-S3 microcontroller with a built-in small OLED display, plus an external BME280 sensor (temperature/humidity/pressure) wired to it over I2C.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3086248"/>
            <a:ext cx="106108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The board has no built-in environmental sensor -- so "which sensor" from slide 3 was never a technical detail, it was a real product decision someone had to make before any code could be correct.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1125" y="4793307"/>
            <a:ext cx="9772650" cy="2786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93"/>
              </a:lnSpc>
            </a:pPr>
            <a:r>
              <a:rPr sz="1462" b="0" i="0" u="none">
                <a:solidFill>
                  <a:srgbClr val="FBBF24"/>
                </a:solidFill>
                <a:latin typeface="Plus Jakarta Sans ExtraBold"/>
              </a:rPr>
              <a:t>One surprising, easy-to-get-wrong technical detail: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5110013"/>
            <a:ext cx="10058400" cy="56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sz="1425" b="0" i="0" u="none">
                <a:solidFill>
                  <a:srgbClr val="FFFFFF"/>
                </a:solidFill>
                <a:latin typeface="Plus Jakarta Sans"/>
              </a:rPr>
              <a:t>on this specific board, the built-in display's I2C pins are GPIO 17/18, not the ESP32's usual default I2C pins (21/22) -- get this wrong and the display simply stays blank with no error message.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375" y="4839741"/>
            <a:ext cx="190500" cy="1857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89894" y="323850"/>
            <a:ext cx="9702105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The Hardware, Verified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923925"/>
            <a:ext cx="11353800" cy="561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4737794"/>
            <a:ext cx="10610850" cy="1473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1248816" cy="31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219" y="466724"/>
            <a:ext cx="132457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0575" y="1461492"/>
            <a:ext cx="10610850" cy="29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41"/>
              </a:lnSpc>
            </a:pPr>
            <a:r>
              <a:rPr b="1" i="0" u="none">
                <a:solidFill>
                  <a:srgbClr val="FFFFFF"/>
                </a:solidFill>
                <a:latin typeface="Plus Jakarta Sans"/>
              </a:rPr>
              <a:t>The point of this comparison: implicit assumption vs. explicit decision -- not "bad code vs. good code."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2351484"/>
            <a:ext cx="106108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To keep the comparison fair, the hardware wiring (I2C pins, the Vext power-enable sequence) is correct in both the prompt-only version and the spec-driven version -- wiring mistakes are not the story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525589"/>
            <a:ext cx="10610850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0" i="0" u="none">
                <a:solidFill>
                  <a:srgbClr val="CBD5E1"/>
                </a:solidFill>
                <a:latin typeface="Plus Jakarta Sans"/>
              </a:rPr>
              <a:t>What genuinely differs is everything the original prompt never specified: exactly which sensor to use, the precise numeric threshold, and whether the warning needs any tolerance band (hysteresis) around that threshold.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125" y="4931342"/>
            <a:ext cx="9772650" cy="272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193"/>
              </a:lnSpc>
            </a:pPr>
            <a:r>
              <a:rPr b="0" i="0" u="none">
                <a:solidFill>
                  <a:srgbClr val="FCA5A5"/>
                </a:solidFill>
                <a:latin typeface="Plus Jakarta Sans ExtraBold"/>
              </a:rPr>
              <a:t>The clearest example: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5245000"/>
            <a:ext cx="10058400" cy="836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b="0" i="0" u="none" dirty="0">
                <a:solidFill>
                  <a:srgbClr val="FFFFFF"/>
                </a:solidFill>
                <a:latin typeface="Plus Jakarta Sans"/>
              </a:rPr>
              <a:t>the prompt-only version has no hysteresis at all. That is not a coding bug -- the code does exactly what a reasonable reading of the prompt implies. It's the direct result of a requirement that was simply never stated.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375" y="4974728"/>
            <a:ext cx="190500" cy="1857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01266" y="291941"/>
            <a:ext cx="1039073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Stage A: Prompt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838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024062"/>
            <a:ext cx="11353800" cy="4510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033587"/>
            <a:ext cx="1133475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1523107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9100" y="923925"/>
            <a:ext cx="11353800" cy="256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600" b="0" i="0" u="none" dirty="0">
                <a:solidFill>
                  <a:srgbClr val="60A5FA"/>
                </a:solidFill>
                <a:latin typeface="Plus Jakarta Sans ExtraBold"/>
              </a:rPr>
              <a:t>specify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writes down what the product should do, in plain language, without touching code yet -- essentially a first draft of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spec.md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1319212"/>
            <a:ext cx="11353800" cy="538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600" b="0" i="0" u="none" dirty="0">
                <a:solidFill>
                  <a:srgbClr val="60A5FA"/>
                </a:solidFill>
                <a:latin typeface="Plus Jakarta Sans ExtraBold"/>
              </a:rPr>
              <a:t>clarify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then asks the human targeted questions about exactly the gaps from slide 3, recording each answer directly into the spec. Below is the real transcript: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003" y="475530"/>
            <a:ext cx="189607" cy="142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275" y="2633662"/>
            <a:ext cx="10839450" cy="217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### Session 2026-09-10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- Q: How often should the device sample the sensor?</a:t>
            </a:r>
            <a:endParaRPr lang="en-US" sz="1200" b="0" i="0" u="none" dirty="0">
              <a:solidFill>
                <a:srgbClr val="60A5FA"/>
              </a:solidFill>
              <a:latin typeface="JetBrains Mono SemiBold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A: Once per second.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- Q: At exactly the threshold values, which state wins?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A: Strictly greater/less. 30.0C / 28.0C exactly hold the prior state.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- Q: Single failed read -&gt; immediate SENSOR_ERROR, or debounce?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A: 3 consecutive failed reads required.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- Q: What should the OLED show during SENSOR_ERROR?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A: "SENSOR ERROR" + last valid reading, marked stale.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2147887"/>
            <a:ext cx="40386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u="none">
                <a:solidFill>
                  <a:srgbClr val="94A3B8"/>
                </a:solidFill>
                <a:latin typeface="JetBrains Mono SemiBold"/>
              </a:rPr>
              <a:t>specs/001-heltec-monitor/spec.md -- ## Clarifications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75" y="2166937"/>
            <a:ext cx="104775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75557" y="291941"/>
            <a:ext cx="1011644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Stage B-C: Specify + Clarify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343025"/>
            <a:ext cx="11353800" cy="4800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729829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923925"/>
            <a:ext cx="1097280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Plus Jakarta Sans ExtraBold"/>
              </a:rPr>
              <a:t>Hysteresis: Why One Threshold Is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6296025"/>
            <a:ext cx="11068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1" u="none" dirty="0">
                <a:solidFill>
                  <a:srgbClr val="F87171"/>
                </a:solidFill>
                <a:latin typeface="Plus Jakarta Sans ExtraBold"/>
              </a:rPr>
              <a:t> Without a hysteresis band: the state "flickers" at every crossing of 30°C alone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78" y="466724"/>
            <a:ext cx="151507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952500"/>
            <a:ext cx="26670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2505075"/>
            <a:ext cx="10839450" cy="2476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3150" y="631983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2279" y="323850"/>
            <a:ext cx="990972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800" b="0" i="0" u="none" dirty="0">
                <a:solidFill>
                  <a:srgbClr val="FFFFFF"/>
                </a:solidFill>
                <a:latin typeface="Plus Jakarta Sans ExtraBold"/>
              </a:rPr>
              <a:t>Hysteresis: The Clearest 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1400175"/>
            <a:ext cx="11353800" cy="4686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095625"/>
            <a:ext cx="1619250" cy="1295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425" y="3105150"/>
            <a:ext cx="1809750" cy="1276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8026" y="2762250"/>
            <a:ext cx="2381250" cy="1962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127" y="2805112"/>
            <a:ext cx="2000250" cy="542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127" y="3462337"/>
            <a:ext cx="2000250" cy="542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6127" y="4119562"/>
            <a:ext cx="2000250" cy="561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381000"/>
            <a:ext cx="1749921" cy="3143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1525" y="918776"/>
            <a:ext cx="1100137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 dirty="0" err="1">
                <a:solidFill>
                  <a:srgbClr val="FFFFFF"/>
                </a:solidFill>
                <a:latin typeface="Plus Jakarta Sans ExtraBold"/>
              </a:rPr>
              <a:t>Heltec</a:t>
            </a:r>
            <a:r>
              <a:rPr b="0" i="0" u="none" dirty="0">
                <a:solidFill>
                  <a:srgbClr val="FFFFFF"/>
                </a:solidFill>
                <a:latin typeface="Plus Jakarta Sans ExtraBold"/>
              </a:rPr>
              <a:t> Monitor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6296025"/>
            <a:ext cx="11068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1" u="none" dirty="0">
                <a:solidFill>
                  <a:srgbClr val="34D399"/>
                </a:solidFill>
                <a:latin typeface="Plus Jakarta Sans ExtraBold"/>
              </a:rPr>
              <a:t> Only </a:t>
            </a:r>
            <a:r>
              <a:rPr sz="1500" b="0" i="1" u="none" dirty="0" err="1">
                <a:solidFill>
                  <a:srgbClr val="34D399"/>
                </a:solidFill>
                <a:latin typeface="Plus Jakarta Sans ExtraBold"/>
              </a:rPr>
              <a:t>monitor_logic</a:t>
            </a:r>
            <a:r>
              <a:rPr sz="1500" b="0" i="1" u="none" dirty="0">
                <a:solidFill>
                  <a:srgbClr val="34D399"/>
                </a:solidFill>
                <a:latin typeface="Plus Jakarta Sans ExtraBold"/>
              </a:rPr>
              <a:t> is tested with zero hardware (</a:t>
            </a:r>
            <a:r>
              <a:rPr sz="1500" b="0" i="1" u="none" dirty="0" err="1">
                <a:solidFill>
                  <a:srgbClr val="34D399"/>
                </a:solidFill>
                <a:latin typeface="Plus Jakarta Sans ExtraBold"/>
              </a:rPr>
              <a:t>pio</a:t>
            </a:r>
            <a:r>
              <a:rPr sz="1500" b="0" i="1" u="none" dirty="0">
                <a:solidFill>
                  <a:srgbClr val="34D399"/>
                </a:solidFill>
                <a:latin typeface="Plus Jakarta Sans ExtraBold"/>
              </a:rPr>
              <a:t> test -e native)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822" y="466724"/>
            <a:ext cx="18960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952500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8100" y="6324600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2550" y="3324225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6775" y="3705225"/>
            <a:ext cx="12763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CA5A5"/>
                </a:solidFill>
                <a:latin typeface="Plus Jakarta Sans ExtraBold"/>
              </a:rPr>
              <a:t>Sensor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990975"/>
            <a:ext cx="12763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JetBrains Mono"/>
              </a:rPr>
              <a:t>BME280 (I2C)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12987" y="3638550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02000" y="3324225"/>
            <a:ext cx="2286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73350" y="3705225"/>
            <a:ext cx="14859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FFFFFF"/>
                </a:solidFill>
                <a:latin typeface="Plus Jakarta Sans ExtraBold"/>
              </a:rPr>
              <a:t>Sensor 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3350" y="3990975"/>
            <a:ext cx="14859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JetBrains Mono"/>
              </a:rPr>
              <a:t>sensor_adapter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9588" y="3638550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7201" y="3009900"/>
            <a:ext cx="342900" cy="3429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8526" y="3429000"/>
            <a:ext cx="20002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>
                <a:solidFill>
                  <a:srgbClr val="93C5FD"/>
                </a:solidFill>
                <a:latin typeface="Plus Jakarta Sans ExtraBold"/>
              </a:rPr>
              <a:t>Decision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8526" y="3724275"/>
            <a:ext cx="200025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1F5F9"/>
                </a:solidFill>
                <a:latin typeface="JetBrains Mono"/>
              </a:rPr>
              <a:t>monitor_logic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526" y="3952875"/>
            <a:ext cx="20002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 u="none">
                <a:solidFill>
                  <a:srgbClr val="CBD5E1"/>
                </a:solidFill>
                <a:latin typeface="Plus Jakarta Sans"/>
              </a:rPr>
              <a:t>OK / WARNING / SENSOR_ERROR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8526" y="4333875"/>
            <a:ext cx="20002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4D399"/>
                </a:solidFill>
                <a:latin typeface="Plus Jakarta Sans ExtraBold"/>
              </a:rPr>
              <a:t>no hardware deps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7689" y="3638550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39002" y="2909887"/>
            <a:ext cx="1714500" cy="215444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34D399"/>
                </a:solidFill>
                <a:latin typeface="Plus Jakarta Sans ExtraBold"/>
              </a:rPr>
              <a:t>OLED 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002" y="3090862"/>
            <a:ext cx="17145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JetBrains Mono"/>
              </a:rPr>
              <a:t>display_adapter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02" y="3567112"/>
            <a:ext cx="1714500" cy="215444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34D399"/>
                </a:solidFill>
                <a:latin typeface="Plus Jakarta Sans ExtraBold"/>
              </a:rPr>
              <a:t>Serial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9002" y="3748087"/>
            <a:ext cx="17145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JetBrains Mono"/>
              </a:rPr>
              <a:t>serial_reporter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8527" y="4233862"/>
            <a:ext cx="1695450" cy="215444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6EE7B7"/>
                </a:solidFill>
                <a:latin typeface="Plus Jakarta Sans ExtraBold"/>
              </a:rPr>
              <a:t>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8527" y="4414837"/>
            <a:ext cx="169545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CBD5E1"/>
                </a:solidFill>
                <a:latin typeface="JetBrains Mono"/>
              </a:rPr>
              <a:t>test_monitor_logic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96177" y="2938462"/>
            <a:ext cx="1809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77164" y="3595687"/>
            <a:ext cx="1619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05739" y="4262437"/>
            <a:ext cx="142875" cy="14287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302371" y="291941"/>
            <a:ext cx="988962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Stage D-E: Plan + Tasks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1285875"/>
            <a:ext cx="11353800" cy="470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1447800"/>
            <a:ext cx="10877550" cy="590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390775"/>
            <a:ext cx="10877550" cy="590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333750"/>
            <a:ext cx="10877550" cy="600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286250"/>
            <a:ext cx="10877550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5229225"/>
            <a:ext cx="10877550" cy="600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385762"/>
            <a:ext cx="1796504" cy="3143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375" y="923538"/>
            <a:ext cx="1105852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u="none" dirty="0">
                <a:solidFill>
                  <a:srgbClr val="FFFFFF"/>
                </a:solidFill>
                <a:latin typeface="Plus Jakarta Sans ExtraBold"/>
              </a:rPr>
              <a:t>What /</a:t>
            </a:r>
            <a:r>
              <a:rPr b="0" i="0" u="none" dirty="0" err="1">
                <a:solidFill>
                  <a:srgbClr val="FFFFFF"/>
                </a:solidFill>
                <a:latin typeface="Plus Jakarta Sans ExtraBold"/>
              </a:rPr>
              <a:t>speckit</a:t>
            </a:r>
            <a:r>
              <a:rPr b="0" i="0" u="none" dirty="0">
                <a:solidFill>
                  <a:srgbClr val="FFFFFF"/>
                </a:solidFill>
                <a:latin typeface="Plus Jakarta Sans ExtraBold"/>
              </a:rPr>
              <a:t>-analyze Actually Caught in This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100" y="6086475"/>
            <a:ext cx="11353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1" u="none">
                <a:solidFill>
                  <a:srgbClr val="F8FAFC"/>
                </a:solidFill>
                <a:latin typeface="Plus Jakarta Sans"/>
              </a:rPr>
              <a:t> This wasn't a bug in code -- it was a contradiction between two parts of our own spec, before a single line of code was written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6381750"/>
            <a:ext cx="11353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94A3B8"/>
                </a:solidFill>
                <a:latin typeface="JetBrains Mono"/>
              </a:rPr>
              <a:t>Full record: specs/001-heltec-monitor/analysis-report.md (finding I1)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816" y="466725"/>
            <a:ext cx="170557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962025"/>
            <a:ext cx="200025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4692" y="1552575"/>
            <a:ext cx="3380295" cy="246221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93C5FD"/>
                </a:solidFill>
                <a:latin typeface="Plus Jakarta Sans"/>
              </a:rPr>
              <a:t>Clarification 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175260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3 consecutive sensor failures required before SENSOR_ERROR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50" y="2143125"/>
            <a:ext cx="1143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56297" y="2495550"/>
            <a:ext cx="6991873" cy="246221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CA5A5"/>
                </a:solidFill>
                <a:latin typeface="Plus Jakarta Sans"/>
              </a:rPr>
              <a:t>But: SC-004 still described different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2695575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FFFFFF"/>
                </a:solidFill>
                <a:latin typeface="Plus Jakarta Sans"/>
              </a:rPr>
              <a:t>"visible on the OLED within one sampling interval" (written before the debounce decision existed)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50" y="3086100"/>
            <a:ext cx="1143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18422" y="3438525"/>
            <a:ext cx="6671634" cy="246221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rgbClr val="FDE68A"/>
                </a:solidFill>
                <a:latin typeface="Plus Jakarta Sans"/>
              </a:rPr>
              <a:t>/</a:t>
            </a:r>
            <a:r>
              <a:rPr sz="1600" b="1" i="0" u="none" dirty="0" err="1">
                <a:solidFill>
                  <a:srgbClr val="FDE68A"/>
                </a:solidFill>
                <a:latin typeface="Plus Jakarta Sans"/>
              </a:rPr>
              <a:t>speckit</a:t>
            </a:r>
            <a:r>
              <a:rPr sz="1600" b="1" i="0" u="none" dirty="0">
                <a:solidFill>
                  <a:srgbClr val="FDE68A"/>
                </a:solidFill>
                <a:latin typeface="Plus Jakarta Sans"/>
              </a:rPr>
              <a:t>-analyze detects the contradiction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363855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solidFill>
                  <a:srgbClr val="FFFFFF"/>
                </a:solidFill>
                <a:latin typeface="JetBrains Mono"/>
              </a:rPr>
              <a:t>Inconsistency, HIGH severity: SC-004 vs FR-005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50" y="4038600"/>
            <a:ext cx="1143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35961" y="4391025"/>
            <a:ext cx="2686445" cy="246221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6EE7B7"/>
                </a:solidFill>
                <a:latin typeface="Plus Jakarta Sans"/>
              </a:rPr>
              <a:t>Spec corrected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459105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FFFFFF"/>
                </a:solidFill>
                <a:latin typeface="Plus Jakarta Sans"/>
              </a:rPr>
              <a:t>SC-004: "within 3 sampling intervals"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8850" y="4981575"/>
            <a:ext cx="1143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44754" y="5334000"/>
            <a:ext cx="8397364" cy="246221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ctr"/>
            <a:r>
              <a:rPr sz="1600" b="1" i="0" u="none">
                <a:solidFill>
                  <a:srgbClr val="FFFFFF"/>
                </a:solidFill>
                <a:latin typeface="Plus Jakarta Sans"/>
              </a:rPr>
              <a:t>Implementation starts only after consistency is restored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5534025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>
                <a:solidFill>
                  <a:srgbClr val="60A5FA"/>
                </a:solidFill>
                <a:latin typeface="JetBrains Mono"/>
              </a:rPr>
              <a:t>/speckit-implement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28063" y="1588294"/>
            <a:ext cx="114300" cy="15716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48026" y="2531269"/>
            <a:ext cx="161925" cy="15716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74873" y="3484524"/>
            <a:ext cx="161925" cy="15716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20106" y="4412457"/>
            <a:ext cx="161925" cy="15716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32790" y="5388375"/>
            <a:ext cx="161925" cy="15716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8954" y="296704"/>
            <a:ext cx="984304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⭐ Stage F: Analyze Finds a Real Contradiction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1023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100262"/>
            <a:ext cx="11353800" cy="44338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109787"/>
            <a:ext cx="1133475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1607046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88" y="466724"/>
            <a:ext cx="151507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1123950"/>
            <a:ext cx="10801350" cy="256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600" b="0" i="0" u="none">
                <a:solidFill>
                  <a:srgbClr val="C4B5FD"/>
                </a:solidFill>
                <a:latin typeface="Plus Jakarta Sans ExtraBold"/>
              </a:rPr>
              <a:t>/speckit-analyze</a:t>
            </a:r>
            <a:r>
              <a:rPr sz="1600" b="0" i="0" u="none">
                <a:solidFill>
                  <a:srgbClr val="CBD5E1"/>
                </a:solidFill>
                <a:latin typeface="Plus Jakarta Sans"/>
              </a:rPr>
              <a:t> didn't find a syntax problem or a code bug.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1462087"/>
            <a:ext cx="105156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250"/>
              </a:lnSpc>
            </a:pPr>
            <a:r>
              <a:rPr sz="1600" b="0" i="0" u="none">
                <a:solidFill>
                  <a:srgbClr val="34D399"/>
                </a:solidFill>
                <a:latin typeface="Plus Jakarta Sans ExtraBold"/>
              </a:rPr>
              <a:t>It found that our own requirements contradicted each other -- before a single line of code was written.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728912"/>
            <a:ext cx="10801350" cy="2284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64748B"/>
                </a:solidFill>
                <a:latin typeface="JetBrains Mono"/>
              </a:rPr>
              <a:t>@@ -174,14 +174,15 @@ value as if it were current.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lang="en-IL" sz="1400" b="0" i="0" u="none" dirty="0">
                <a:solidFill>
                  <a:srgbClr val="F1F5F9"/>
                </a:solidFill>
                <a:latin typeface="JetBrains Mono"/>
              </a:rPr>
              <a:t>–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SC-001: ... within one sampling interval of a state change.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F87171"/>
                </a:solidFill>
                <a:latin typeface="JetBrains Mono"/>
              </a:rPr>
              <a:t>-- SC-004: A sensor disconnection is visible on the OLED within one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F87171"/>
                </a:solidFill>
                <a:latin typeface="JetBrains Mono"/>
              </a:rPr>
              <a:t>- sampling interval, and the device continues running (no crash/hang)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F87171"/>
                </a:solidFill>
                <a:latin typeface="JetBrains Mono"/>
              </a:rPr>
              <a:t>- indefinitely while disconnected.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++ SC-004: A sensor disconnection is visible on the OLED within 3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+ sampling intervals (the debounce window defined in FR-005), and the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+ device continues running (no crash/hang) indefinitely while</a:t>
            </a:r>
            <a:r>
              <a:rPr sz="140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4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979"/>
              </a:lnSpc>
            </a:pPr>
            <a:r>
              <a:rPr sz="1400" b="0" i="0" u="none" dirty="0">
                <a:solidFill>
                  <a:srgbClr val="34D399"/>
                </a:solidFill>
                <a:latin typeface="JetBrains Mono SemiBold"/>
              </a:rPr>
              <a:t>+ disconnected.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1509712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95425" y="2224087"/>
            <a:ext cx="39624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u="none">
                <a:solidFill>
                  <a:srgbClr val="94A3B8"/>
                </a:solidFill>
                <a:latin typeface="JetBrains Mono SemiBold"/>
              </a:rPr>
              <a:t>git show b91cd94 -- specs/001-heltec-monitor/spec.md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2243137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59496" y="291941"/>
            <a:ext cx="1003250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Stage F: Spec Discrepancy Caught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5591175" cy="4762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923925"/>
            <a:ext cx="5591175" cy="4762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933450"/>
            <a:ext cx="5572125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933450"/>
            <a:ext cx="5572125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1446907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6305550"/>
            <a:ext cx="110775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25" b="0" i="0" u="none">
                <a:solidFill>
                  <a:srgbClr val="34D399"/>
                </a:solidFill>
                <a:latin typeface="Plus Jakarta Sans ExtraBold"/>
              </a:rPr>
              <a:t>monitor_logic is fully tested with zero hardware (pio test -e native, 11/11 passed)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68" y="466724"/>
            <a:ext cx="151507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2526" y="6329362"/>
            <a:ext cx="180975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175" y="1514475"/>
            <a:ext cx="5153025" cy="2241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#include "</a:t>
            </a:r>
            <a:r>
              <a:rPr sz="1050" b="0" i="0" u="none" dirty="0" err="1">
                <a:solidFill>
                  <a:srgbClr val="64748B"/>
                </a:solidFill>
                <a:latin typeface="JetBrains Mono"/>
              </a:rPr>
              <a:t>monitor_logic.h</a:t>
            </a:r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" // no </a:t>
            </a:r>
            <a:r>
              <a:rPr sz="1050" b="0" i="0" u="none" dirty="0" err="1">
                <a:solidFill>
                  <a:srgbClr val="64748B"/>
                </a:solidFill>
                <a:latin typeface="JetBrains Mono"/>
              </a:rPr>
              <a:t>Arduino.h</a:t>
            </a:r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, no </a:t>
            </a:r>
            <a:r>
              <a:rPr sz="1050" b="0" i="0" u="none" dirty="0" err="1">
                <a:solidFill>
                  <a:srgbClr val="64748B"/>
                </a:solidFill>
                <a:latin typeface="JetBrains Mono"/>
              </a:rPr>
              <a:t>Wire.h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627"/>
              </a:lnSpc>
            </a:pP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60A5FA"/>
                </a:solidFill>
                <a:latin typeface="JetBrains Mono SemiBold"/>
              </a:rPr>
              <a:t>evaluate_temperature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(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prev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, </a:t>
            </a:r>
            <a:r>
              <a:rPr sz="1050" b="0" i="0" u="none" dirty="0">
                <a:solidFill>
                  <a:srgbClr val="38BDF8"/>
                </a:solidFill>
                <a:latin typeface="JetBrains Mono"/>
              </a:rPr>
              <a:t>float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t) {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if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(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prev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==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::WARNING) {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lang="en-IL" sz="1050" dirty="0">
                <a:solidFill>
                  <a:srgbClr val="F1F5F9"/>
                </a:solidFill>
                <a:latin typeface="JetBrains Mono"/>
              </a:rPr>
              <a:t>	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if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(t &lt; 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kWarningOffThresholdC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) 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return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::OK; 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lang="en-IL" sz="1050" b="0" i="0" u="none" dirty="0">
                <a:solidFill>
                  <a:srgbClr val="F1F5F9"/>
                </a:solidFill>
                <a:latin typeface="JetBrains Mono"/>
              </a:rPr>
              <a:t>	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return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::WARNING; 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}</a:t>
            </a:r>
            <a:endParaRPr lang="en-IL" sz="1050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if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(t &gt; 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kWarningOnThresholdC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) </a:t>
            </a: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return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::WARNING; 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lvl="1">
              <a:lnSpc>
                <a:spcPts val="1627"/>
              </a:lnSpc>
            </a:pP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return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::OK;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} </a:t>
            </a:r>
            <a:r>
              <a:rPr sz="1050" b="0" i="0" u="none" dirty="0">
                <a:solidFill>
                  <a:srgbClr val="64748B"/>
                </a:solidFill>
                <a:latin typeface="JetBrains Mono"/>
              </a:rPr>
              <a:t>// FR-005: &lt;3 consecutive failures leaves state unchanged.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5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FBBF24"/>
                </a:solidFill>
                <a:latin typeface="JetBrains Mono"/>
              </a:rPr>
              <a:t>if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(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next.consecutive_failures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&gt;= 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kFailureDebounceCount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) </a:t>
            </a:r>
            <a:r>
              <a:rPr sz="1050" b="0" i="0" u="none" dirty="0" err="1">
                <a:solidFill>
                  <a:srgbClr val="F1F5F9"/>
                </a:solidFill>
                <a:latin typeface="JetBrains Mono"/>
              </a:rPr>
              <a:t>next.state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 = </a:t>
            </a:r>
            <a:r>
              <a:rPr sz="1050" b="0" i="0" u="none" dirty="0" err="1">
                <a:solidFill>
                  <a:srgbClr val="38BDF8"/>
                </a:solidFill>
                <a:latin typeface="JetBrains Mono"/>
              </a:rPr>
              <a:t>MonitorState</a:t>
            </a:r>
            <a:r>
              <a:rPr sz="1050" b="0" i="0" u="none" dirty="0">
                <a:solidFill>
                  <a:srgbClr val="F1F5F9"/>
                </a:solidFill>
                <a:latin typeface="JetBrains Mono"/>
              </a:rPr>
              <a:t>::SENSOR_ERROR;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14475"/>
            <a:ext cx="5153025" cy="22945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test_first_valid_reading_below_threshold_is_ok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test_warning_triggers_strictly_above_30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test_exactly_30_does_not_trigger_warning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12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test_warning_clears_strictly_below_28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12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test_exactly_28_does_not_clear_warning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12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518"/>
              </a:lnSpc>
            </a:pPr>
            <a:r>
              <a:rPr lang="en-US" sz="1012" b="0" i="0" u="none" dirty="0" err="1">
                <a:solidFill>
                  <a:srgbClr val="F1F5F9"/>
                </a:solidFill>
                <a:latin typeface="JetBrains Mono"/>
              </a:rPr>
              <a:t>t</a:t>
            </a: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est_no_toggling_anywhere_inside_hysteresis_band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lang="en-US" sz="1012" b="0" i="0" u="none" dirty="0" err="1">
                <a:solidFill>
                  <a:srgbClr val="F1F5F9"/>
                </a:solidFill>
                <a:latin typeface="JetBrains Mono"/>
              </a:rPr>
              <a:t>t</a:t>
            </a: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est_one_or_two_failures_do_not_change_state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test_third_consecutive_failure_enters_sensor_error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test_recovery_after_sensor_error_reevaluates_normally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test_no_valid_reading_ever_leaves_has_last_valid_false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endParaRPr lang="en-US" sz="1012" b="0" i="0" u="none" dirty="0">
              <a:solidFill>
                <a:srgbClr val="34D399"/>
              </a:solidFill>
              <a:latin typeface="JetBrains Mono SemiBold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 err="1">
                <a:solidFill>
                  <a:srgbClr val="F1F5F9"/>
                </a:solidFill>
                <a:latin typeface="JetBrains Mono"/>
              </a:rPr>
              <a:t>test_consecutive_failures_saturate_instead_of_overflowing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012" b="0" i="0" u="none" dirty="0">
                <a:solidFill>
                  <a:srgbClr val="34D399"/>
                </a:solidFill>
                <a:latin typeface="JetBrains Mono SemiBold"/>
              </a:rPr>
              <a:t>[PASSED]</a:t>
            </a:r>
            <a:r>
              <a:rPr sz="1012" b="0" i="0" u="none" dirty="0">
                <a:solidFill>
                  <a:srgbClr val="F1F5F9"/>
                </a:solidFill>
                <a:latin typeface="JetBrains Mono"/>
              </a:rPr>
              <a:t> </a:t>
            </a:r>
            <a:endParaRPr lang="en-US" sz="1012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34D399"/>
                </a:solidFill>
                <a:latin typeface="JetBrains Mono ExtraBold"/>
              </a:rPr>
              <a:t>============== 11 test cases: 11 succeeded ==============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3525" y="10477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 SemiBold"/>
              </a:rPr>
              <a:t>firmware/src/monitor_logic.cpp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0" y="1047750"/>
            <a:ext cx="152400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JetBrains Mono SemiBold"/>
              </a:rPr>
              <a:t>$ pio test -e native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75" y="1066800"/>
            <a:ext cx="171450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0" y="1066800"/>
            <a:ext cx="11430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9357" y="291941"/>
            <a:ext cx="10192642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Stage G: Implement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5562600" cy="5610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923925"/>
            <a:ext cx="5562600" cy="5610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81000"/>
            <a:ext cx="2503289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84" y="466724"/>
            <a:ext cx="113407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700" y="1387375"/>
            <a:ext cx="4638675" cy="257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75" b="0" i="0" u="none" dirty="0">
                <a:solidFill>
                  <a:srgbClr val="FFFFFF"/>
                </a:solidFill>
                <a:latin typeface="Plus Jakarta Sans ExtraBold"/>
              </a:rPr>
              <a:t>Expected Behavior Walkthrough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688" y="1387375"/>
            <a:ext cx="2000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8" y="2176313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688" y="2941439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7688" y="3820864"/>
            <a:ext cx="209550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688" y="4700289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7688" y="5703540"/>
            <a:ext cx="2381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52900" y="5705475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C4B5FD"/>
                </a:solidFill>
                <a:latin typeface="Plus Jakarta Sans"/>
              </a:rPr>
              <a:t>SENSOR_ERROR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5739" y="323850"/>
            <a:ext cx="913626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0" i="0" u="none">
                <a:solidFill>
                  <a:srgbClr val="FFFFFF"/>
                </a:solidFill>
                <a:latin typeface="Plus Jakarta Sans ExtraBold"/>
              </a:rPr>
              <a:t>Live Demo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6AD416D-78DA-CF09-5510-8A847530891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4294" y="3228280"/>
            <a:ext cx="2831473" cy="315356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D1DAE5-7950-81BE-BD81-A9571211B24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7433" y="1076325"/>
            <a:ext cx="2576861" cy="35355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69" y="6029325"/>
            <a:ext cx="11178014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933450"/>
            <a:ext cx="1133475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381000"/>
            <a:ext cx="1975544" cy="314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291" y="471488"/>
            <a:ext cx="189607" cy="142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5325" y="1552575"/>
            <a:ext cx="10801350" cy="2170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16df826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08-implemented)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Implement the </a:t>
            </a:r>
            <a:r>
              <a:rPr sz="1200" b="0" i="0" u="none" dirty="0" err="1">
                <a:solidFill>
                  <a:srgbClr val="F1F5F9"/>
                </a:solidFill>
                <a:latin typeface="JetBrains Mono"/>
              </a:rPr>
              <a:t>Heltec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environmental monitor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073d82e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07-analysis-complete)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Cross-artifact analysis of spec/plan/tasks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e2fb144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06-tasks-created)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Generate dependency-ordered tasks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13a41b4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05-plan-created)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Create the implementation plan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e8a572d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04-spec-clarified)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Clarify the </a:t>
            </a:r>
            <a:r>
              <a:rPr sz="1200" b="0" i="0" u="none" dirty="0" err="1">
                <a:solidFill>
                  <a:srgbClr val="F1F5F9"/>
                </a:solidFill>
                <a:latin typeface="JetBrains Mono"/>
              </a:rPr>
              <a:t>Heltec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monitor spec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d015334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03-spec-created)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Ratify constitution and create the feature spec </a:t>
            </a: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c0bf079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Initialize GitHub Spec Kit (Claude Code + Codex integrations)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6d76fad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02-prompt-only)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Add prompt-only reference implementation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60A5FA"/>
                </a:solidFill>
                <a:latin typeface="JetBrains Mono SemiBold"/>
              </a:rPr>
              <a:t>0e9bb8f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</a:t>
            </a: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(tag: 01-start)</a:t>
            </a:r>
            <a:r>
              <a:rPr sz="1200" b="0" i="0" u="none" dirty="0">
                <a:solidFill>
                  <a:srgbClr val="F1F5F9"/>
                </a:solidFill>
                <a:latin typeface="JetBrains Mono"/>
              </a:rPr>
              <a:t> Bootstrap repository skeleton </a:t>
            </a:r>
            <a:endParaRPr lang="en-US" sz="1200" b="0" i="0" u="none" dirty="0">
              <a:solidFill>
                <a:srgbClr val="F1F5F9"/>
              </a:solidFill>
              <a:latin typeface="JetBrains Mono"/>
            </a:endParaRPr>
          </a:p>
          <a:p>
            <a:pPr algn="l">
              <a:lnSpc>
                <a:spcPts val="1856"/>
              </a:lnSpc>
            </a:pPr>
            <a:r>
              <a:rPr sz="1200" b="0" i="0" u="none" dirty="0">
                <a:solidFill>
                  <a:srgbClr val="FBBF24"/>
                </a:solidFill>
                <a:latin typeface="JetBrains Mono"/>
              </a:rPr>
              <a:t># 09-hardware-verified: not yet tagged -- pending physical test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6176962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76375" y="1025753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 u="none" dirty="0">
                <a:solidFill>
                  <a:srgbClr val="94A3B8"/>
                </a:solidFill>
                <a:latin typeface="JetBrains Mono SemiBold"/>
              </a:rPr>
              <a:t> $ git log --</a:t>
            </a:r>
            <a:r>
              <a:rPr sz="1400" b="0" i="0" u="none" dirty="0" err="1">
                <a:solidFill>
                  <a:srgbClr val="94A3B8"/>
                </a:solidFill>
                <a:latin typeface="JetBrains Mono SemiBold"/>
              </a:rPr>
              <a:t>oneline</a:t>
            </a:r>
            <a:r>
              <a:rPr sz="1400" b="0" i="0" u="none" dirty="0">
                <a:solidFill>
                  <a:srgbClr val="94A3B8"/>
                </a:solidFill>
                <a:latin typeface="JetBrains Mono SemiBold"/>
              </a:rPr>
              <a:t> --all --decorate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5875" y="1066800"/>
            <a:ext cx="11430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27994" y="291941"/>
            <a:ext cx="966400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Git Checkpoints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923925"/>
            <a:ext cx="11353800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2126456"/>
            <a:ext cx="11353800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3328987"/>
            <a:ext cx="11353800" cy="742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4531518"/>
            <a:ext cx="11353800" cy="742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5734050"/>
            <a:ext cx="11353800" cy="800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10858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2288381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3490912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693443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5924550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" y="381000"/>
            <a:ext cx="1278433" cy="314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607" y="479822"/>
            <a:ext cx="113407" cy="142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66825" y="1176337"/>
            <a:ext cx="6257925" cy="246221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AI coding speed does not remove the need for clear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825" y="2378868"/>
            <a:ext cx="5895975" cy="246221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Spec Kit gives a repeatable path from idea to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825" y="3581400"/>
            <a:ext cx="7372350" cy="246221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Claude Code and Codex are the agents; Spec Kit is the process and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825" y="4783931"/>
            <a:ext cx="7715250" cy="246221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FFFFFF"/>
                </a:solidFill>
                <a:latin typeface="Plus Jakarta Sans"/>
              </a:rPr>
              <a:t>The spec, plan, and tasks live in the repository -- they don't disappear into a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3975" y="5895975"/>
            <a:ext cx="10210800" cy="492443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  <a:latin typeface="Plus Jakarta Sans ExtraBold"/>
              </a:rPr>
              <a:t>The best proof: not that it generates code, but that it forces answers to important questions before the wrong code gets written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6825" y="1214437"/>
            <a:ext cx="190500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6825" y="2416968"/>
            <a:ext cx="190500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66825" y="3619500"/>
            <a:ext cx="23812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66825" y="4822031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830883" y="291941"/>
            <a:ext cx="10361116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0" i="0" u="none" dirty="0">
                <a:solidFill>
                  <a:srgbClr val="FFFFFF"/>
                </a:solidFill>
                <a:latin typeface="Plus Jakarta Sans ExtraBold"/>
              </a:rPr>
              <a:t>Five Things to Remember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81000"/>
            <a:ext cx="1524148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" y="5953125"/>
            <a:ext cx="11353800" cy="58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618" y="485775"/>
            <a:ext cx="189607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923925"/>
            <a:ext cx="5600700" cy="152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923925"/>
            <a:ext cx="5600700" cy="1524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2600325"/>
            <a:ext cx="5600700" cy="1524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600325"/>
            <a:ext cx="5600700" cy="1524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" y="4276725"/>
            <a:ext cx="5600700" cy="1524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276725"/>
            <a:ext cx="5600700" cy="15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425" y="6134100"/>
            <a:ext cx="2190750" cy="246221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FFFFFF"/>
                </a:solidFill>
                <a:latin typeface="Plus Jakarta Sans ExtraBold"/>
              </a:rPr>
              <a:t>Companion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6153150"/>
            <a:ext cx="54768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i="1" dirty="0">
                <a:solidFill>
                  <a:srgbClr val="94A3B8"/>
                </a:solidFill>
                <a:latin typeface="Plus Jakarta Sans"/>
              </a:rPr>
              <a:t>https://</a:t>
            </a:r>
            <a:r>
              <a:rPr lang="en-US" sz="1400" i="1" dirty="0" err="1">
                <a:solidFill>
                  <a:srgbClr val="94A3B8"/>
                </a:solidFill>
                <a:latin typeface="Plus Jakarta Sans"/>
              </a:rPr>
              <a:t>github.com</a:t>
            </a:r>
            <a:r>
              <a:rPr lang="en-US" sz="1400" i="1" dirty="0">
                <a:solidFill>
                  <a:srgbClr val="94A3B8"/>
                </a:solidFill>
                <a:latin typeface="Plus Jakarta Sans"/>
              </a:rPr>
              <a:t>/</a:t>
            </a:r>
            <a:r>
              <a:rPr lang="en-US" sz="1400" i="1" dirty="0" err="1">
                <a:solidFill>
                  <a:srgbClr val="94A3B8"/>
                </a:solidFill>
                <a:latin typeface="Plus Jakarta Sans"/>
              </a:rPr>
              <a:t>ronyronen</a:t>
            </a:r>
            <a:r>
              <a:rPr lang="en-US" sz="1400" i="1" dirty="0">
                <a:solidFill>
                  <a:srgbClr val="94A3B8"/>
                </a:solidFill>
                <a:latin typeface="Plus Jakarta Sans"/>
              </a:rPr>
              <a:t>/</a:t>
            </a:r>
            <a:r>
              <a:rPr lang="en-US" sz="1400" i="1" dirty="0" err="1">
                <a:solidFill>
                  <a:srgbClr val="94A3B8"/>
                </a:solidFill>
                <a:latin typeface="Plus Jakarta Sans"/>
              </a:rPr>
              <a:t>speckit</a:t>
            </a:r>
            <a:r>
              <a:rPr lang="en-US" sz="1400" i="1" dirty="0">
                <a:solidFill>
                  <a:srgbClr val="94A3B8"/>
                </a:solidFill>
                <a:latin typeface="Plus Jakarta Sans"/>
              </a:rPr>
              <a:t>-</a:t>
            </a:r>
            <a:r>
              <a:rPr lang="en-US" sz="1400" i="1" dirty="0" err="1">
                <a:solidFill>
                  <a:srgbClr val="94A3B8"/>
                </a:solidFill>
                <a:latin typeface="Plus Jakarta Sans"/>
              </a:rPr>
              <a:t>claude</a:t>
            </a:r>
            <a:r>
              <a:rPr lang="en-US" sz="1400" i="1" dirty="0">
                <a:solidFill>
                  <a:srgbClr val="94A3B8"/>
                </a:solidFill>
                <a:latin typeface="Plus Jakarta Sans"/>
              </a:rPr>
              <a:t>-presentation</a:t>
            </a:r>
            <a:endParaRPr sz="1400" b="0" i="1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7225" y="1447800"/>
            <a:ext cx="5124450" cy="246221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0A5FA"/>
                </a:solidFill>
                <a:latin typeface="Plus Jakarta Sans ExtraBold"/>
              </a:rPr>
              <a:t>Spec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" y="17240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github.com/github/spec-kit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1447800"/>
            <a:ext cx="5124450" cy="246221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60A5FA"/>
                </a:solidFill>
                <a:latin typeface="Plus Jakarta Sans ExtraBold"/>
              </a:rPr>
              <a:t>Spec Kit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17240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github.github.io/spec-kit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124200"/>
            <a:ext cx="5124450" cy="246221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4B5FD"/>
                </a:solidFill>
                <a:latin typeface="Plus Jakarta Sans ExtraBold"/>
              </a:rPr>
              <a:t>Claude Code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34004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docs.claude.com/en/docs/claude-code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124200"/>
            <a:ext cx="5124450" cy="246221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4B5FD"/>
                </a:solidFill>
                <a:latin typeface="Plus Jakarta Sans ExtraBold"/>
              </a:rPr>
              <a:t>Codex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34004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developers.openai.com/codex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4800600"/>
            <a:ext cx="5124450" cy="246221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4D399"/>
                </a:solidFill>
                <a:latin typeface="Plus Jakarta Sans ExtraBold"/>
              </a:rPr>
              <a:t>PlatformIO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" y="50768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platformio.org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4800600"/>
            <a:ext cx="5124450" cy="246221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4D399"/>
                </a:solidFill>
                <a:latin typeface="Plus Jakarta Sans ExtraBold"/>
              </a:rPr>
              <a:t>Heltec WiFi Kit 32 (V3)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5076825"/>
            <a:ext cx="51244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CBD5E1"/>
                </a:solidFill>
                <a:latin typeface="JetBrains Mono"/>
              </a:rPr>
              <a:t>heltec.org/project/wifi-kit32-v3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6172200"/>
            <a:ext cx="17145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1485900"/>
            <a:ext cx="161925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25" y="1485900"/>
            <a:ext cx="15240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162300"/>
            <a:ext cx="2190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3162300"/>
            <a:ext cx="219075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7225" y="4838700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4838700"/>
            <a:ext cx="219075" cy="1714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076598" y="230388"/>
            <a:ext cx="10115401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0" i="0" u="none" dirty="0">
                <a:solidFill>
                  <a:srgbClr val="FFFFFF"/>
                </a:solidFill>
                <a:latin typeface="Plus Jakarta Sans ExtraBold"/>
              </a:rPr>
              <a:t>Links and Credits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3182</TotalTime>
  <Words>2578</Words>
  <Application>Microsoft Macintosh PowerPoint</Application>
  <PresentationFormat>Widescreen</PresentationFormat>
  <Paragraphs>236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Aptos</vt:lpstr>
      <vt:lpstr>Arial</vt:lpstr>
      <vt:lpstr>Calibri</vt:lpstr>
      <vt:lpstr>Courier New</vt:lpstr>
      <vt:lpstr>JetBrains Mono</vt:lpstr>
      <vt:lpstr>JetBrains Mono ExtraBold</vt:lpstr>
      <vt:lpstr>JetBrains Mono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Yohai Azulai</cp:lastModifiedBy>
  <cp:revision>12</cp:revision>
  <dcterms:created xsi:type="dcterms:W3CDTF">2013-01-27T09:14:16Z</dcterms:created>
  <dcterms:modified xsi:type="dcterms:W3CDTF">2026-09-14T11:41:26Z</dcterms:modified>
  <cp:category/>
</cp:coreProperties>
</file>